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8EAF0"/>
                </a:solidFill>
                <a:latin typeface="Arial"/>
              </a:defRPr>
            </a:pPr>
            <a:r>
              <a:rPr sz="1400" b="0" i="0" u="none" strike="noStrike">
                <a:solidFill>
                  <a:srgbClr val="E8EAF0"/>
                </a:solidFill>
                <a:latin typeface="Arial"/>
              </a:rPr>
              <a:t>Enrolled members by plan</a:t>
            </a:r>
          </a:p>
        </c:rich>
      </c:tx>
      <c:layout/>
      <c:overlay val="0"/>
    </c:title>
    <c:autoTitleDeleted val="0"/>
    <c:plotArea>
      <c:layout/>
      <c:barChart>
        <c:barDir val="col"/>
        <c:grouping val="clustered"/>
        <c:varyColors val="0"/>
        <c:ser>
          <c:idx val="0"/>
          <c:order val="0"/>
          <c:tx>
            <c:strRef>
              <c:f>Sheet1!$B$1</c:f>
              <c:strCache>
                <c:ptCount val="1"/>
                <c:pt idx="0">
                  <c:v>Members</c:v>
                </c:pt>
              </c:strCache>
            </c:strRef>
          </c:tx>
          <c:spPr>
            <a:solidFill>
              <a:srgbClr val="028090"/>
            </a:solidFill>
            <a:effectLst/>
          </c:spPr>
          <c:invertIfNegative val="0"/>
          <c:dLbls>
            <c:numFmt formatCode="#,##0" sourceLinked="0"/>
            <c:txPr>
              <a:bodyPr/>
              <a:lstStyle/>
              <a:p>
                <a:pPr>
                  <a:defRPr b="0" i="0" strike="noStrike" sz="1100" u="none">
                    <a:solidFill>
                      <a:srgbClr val="E8EAF0"/>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2C39A"/>
              </a:solidFill>
              <a:effectLst/>
            </c:spPr>
          </c:dPt>
          <c:dPt>
            <c:idx val="3"/>
            <c:invertIfNegative val="0"/>
            <c:bubble3D val="0"/>
            <c:spPr>
              <a:solidFill>
                <a:srgbClr val="5EEAD4"/>
              </a:solidFill>
              <a:effectLst/>
            </c:spPr>
          </c:dPt>
          <c:cat>
            <c:multiLvlStrRef>
              <c:f>Sheet1!$A$2:$A$5</c:f>
              <c:multiLvlStrCache>
                <c:ptCount val="4"/>
                <c:lvl>
                  <c:pt idx="0">
                    <c:v>Silver HMO</c:v>
                  </c:pt>
                  <c:pt idx="1">
                    <c:v>Platinum PPO</c:v>
                  </c:pt>
                  <c:pt idx="2">
                    <c:v>Gold PPO</c:v>
                  </c:pt>
                  <c:pt idx="3">
                    <c:v>Bronze HDHP</c:v>
                  </c:pt>
                </c:lvl>
              </c:multiLvlStrCache>
            </c:multiLvlStrRef>
          </c:cat>
          <c:val>
            <c:numRef>
              <c:f>Sheet1!$B$2:$B$5</c:f>
              <c:numCache>
                <c:formatCode>General</c:formatCode>
                <c:ptCount val="4"/>
                <c:pt idx="0">
                  <c:v>733</c:v>
                </c:pt>
                <c:pt idx="1">
                  <c:v>691</c:v>
                </c:pt>
                <c:pt idx="2">
                  <c:v>684</c:v>
                </c:pt>
                <c:pt idx="3">
                  <c:v>630</c:v>
                </c:pt>
              </c:numCache>
            </c:numRef>
          </c:val>
        </c:ser>
        <c:dLbls>
          <c:numFmt formatCode="#,##0" sourceLinked="0"/>
          <c:txPr>
            <a:bodyPr/>
            <a:lstStyle/>
            <a:p>
              <a:pPr>
                <a:defRPr b="0" i="0" strike="noStrike" sz="1100" u="none">
                  <a:solidFill>
                    <a:srgbClr val="E8EA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0A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2F3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AA0AD"/>
                </a:solidFill>
                <a:latin typeface="Arial"/>
              </a:defRPr>
            </a:pPr>
            <a:endParaRPr lang="en-US"/>
          </a:p>
        </c:txPr>
        <c:crossAx val="2094734554"/>
        <c:crosses val="autoZero"/>
        <c:crossBetween val="between"/>
      </c:valAx>
      <c:spPr>
        <a:solidFill>
          <a:srgbClr val="1B1E27"/>
        </a:solidFill>
        <a:ln>
          <a:noFill/>
        </a:ln>
        <a:effectLst/>
      </c:spPr>
    </c:plotArea>
    <c:plotVisOnly val="1"/>
    <c:dispBlanksAs val="span"/>
  </c:chart>
  <c:spPr>
    <a:solidFill>
      <a:srgbClr val="1B1E2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users need answers from their data, but most can't write SQL and can't always wait on a data team. Current AI approaches work at about 80 percent on one or two tables, but hallucinate as more tables are added. And the data often contains PHI and PII, so privacy isn't optional. This is ClariQuery.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hard parts: accuracy breaks as you add tables, models invent answers, and the data is sensitive so privacy must be built in. ClariQuery addresses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ask in plain English, select relevant tables, apply access control, generate and run SQL, produce a grounded answer. Narrowing the schema first is what keeps accuracy high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toggle controls how much of the database the AI sees. Off: it sees every table and is more likely to pick wrong joins or invent columns. On: it first selects only relevant tables, then writes SQL on a small clean schema. That keeps accuracy high as the database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example. The user asks which plan has the most enrolled members. ClariQuery writes correct SQL using COUNT DISTINCT, runs it, answers in plain English, and charts the result. Silver HMO leads with 733.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five members by total paid claims, with their plan name — a three-table join. The metric cards show tables scanned and that the answer is grounded.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lists the five members with real dollar amounts pulled directly from the data. The grounded badge confirms no invented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can be turned into a chart from a dropdown — bar, line, area, or pie — so non-technical users can see the result, not just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asked for something the data doesn't contain, like a satisfaction score, the answer is Flagged and the system refuses to invent a number. That's the anti-hallucination guardrail.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controlled by role. Sensitive columns like Social Security Number are removed before the AI ever sees them, so they can't leak. HIPAA-safe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schema linking narrows what the model sees, access control removes sensitive columns before the model gets them, and the grounding guardrail forces every answer to come from real rows. Together they cover accuracy, privacy, and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Streamlit front-end takes the question. Featherless AI running Qwen3-Coder writes the SQL. The pipeline applies schema linking, access control, and grounding. DuckDB runs the query. For production, DuckDB swaps to BigQuery without changing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tables linked by member ID. Members is the center and holds the sensitive data. Enrollments, claims, and pharmacy benefits each join back to members — exactly the multi-table reasoning the problem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ClariQuery handles the three hard parts: accuracy across multiple tables, no hallucinated answers, and privacy by design. Built with Python, Streamlit, DuckDB, and Featherless AI.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731520" y="1371600"/>
            <a:ext cx="914400" cy="91440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3" name="Image 0" descr="preencoded.png">    </p:cNvPr>
          <p:cNvPicPr>
            <a:picLocks noChangeAspect="1"/>
          </p:cNvPicPr>
          <p:nvPr/>
        </p:nvPicPr>
        <p:blipFill>
          <a:blip r:embed="rId1"/>
          <a:stretch>
            <a:fillRect/>
          </a:stretch>
        </p:blipFill>
        <p:spPr>
          <a:xfrm>
            <a:off x="969264" y="1609344"/>
            <a:ext cx="438912" cy="438912"/>
          </a:xfrm>
          <a:prstGeom prst="rect">
            <a:avLst/>
          </a:prstGeom>
        </p:spPr>
      </p:pic>
      <p:sp>
        <p:nvSpPr>
          <p:cNvPr id="4" name="Text 1"/>
          <p:cNvSpPr/>
          <p:nvPr/>
        </p:nvSpPr>
        <p:spPr>
          <a:xfrm>
            <a:off x="731520" y="2468880"/>
            <a:ext cx="10698480" cy="1005840"/>
          </a:xfrm>
          <a:prstGeom prst="rect">
            <a:avLst/>
          </a:prstGeom>
          <a:noFill/>
          <a:ln/>
        </p:spPr>
        <p:txBody>
          <a:bodyPr wrap="square" rtlCol="0" anchor="ctr"/>
          <a:lstStyle/>
          <a:p>
            <a:pPr indent="0" marL="0">
              <a:buNone/>
            </a:pPr>
            <a:r>
              <a:rPr lang="en-US" sz="5800" b="1" dirty="0">
                <a:solidFill>
                  <a:srgbClr val="E8EAF0"/>
                </a:solidFill>
                <a:latin typeface="Cambria" pitchFamily="34" charset="0"/>
                <a:ea typeface="Cambria" pitchFamily="34" charset="-122"/>
                <a:cs typeface="Cambria" pitchFamily="34" charset="-120"/>
              </a:rPr>
              <a:t>ClariQuery</a:t>
            </a:r>
            <a:endParaRPr lang="en-US" sz="5800" dirty="0"/>
          </a:p>
        </p:txBody>
      </p:sp>
      <p:sp>
        <p:nvSpPr>
          <p:cNvPr id="5" name="Text 2"/>
          <p:cNvSpPr/>
          <p:nvPr/>
        </p:nvSpPr>
        <p:spPr>
          <a:xfrm>
            <a:off x="731520" y="3520440"/>
            <a:ext cx="10698480" cy="548640"/>
          </a:xfrm>
          <a:prstGeom prst="rect">
            <a:avLst/>
          </a:prstGeom>
          <a:noFill/>
          <a:ln/>
        </p:spPr>
        <p:txBody>
          <a:bodyPr wrap="square" rtlCol="0" anchor="ctr"/>
          <a:lstStyle/>
          <a:p>
            <a:pPr indent="0" marL="0">
              <a:buNone/>
            </a:pPr>
            <a:r>
              <a:rPr lang="en-US" sz="2200" dirty="0">
                <a:solidFill>
                  <a:srgbClr val="00A896"/>
                </a:solidFill>
                <a:latin typeface="Calibri" pitchFamily="34" charset="0"/>
                <a:ea typeface="Calibri" pitchFamily="34" charset="-122"/>
                <a:cs typeface="Calibri" pitchFamily="34" charset="-120"/>
              </a:rPr>
              <a:t>Ask your data in plain English. Accurate across many tables. Private by design.</a:t>
            </a:r>
            <a:endParaRPr lang="en-US" sz="2200" dirty="0"/>
          </a:p>
        </p:txBody>
      </p:sp>
      <p:sp>
        <p:nvSpPr>
          <p:cNvPr id="6" name="Shape 3"/>
          <p:cNvSpPr/>
          <p:nvPr/>
        </p:nvSpPr>
        <p:spPr>
          <a:xfrm>
            <a:off x="731520" y="4434840"/>
            <a:ext cx="2926080" cy="594360"/>
          </a:xfrm>
          <a:prstGeom prst="roundRect">
            <a:avLst>
              <a:gd name="adj" fmla="val 49231"/>
            </a:avLst>
          </a:prstGeom>
          <a:solidFill>
            <a:srgbClr val="1B1E27"/>
          </a:solidFill>
          <a:ln w="12700">
            <a:solidFill>
              <a:srgbClr val="028090"/>
            </a:solidFill>
            <a:prstDash val="solid"/>
          </a:ln>
        </p:spPr>
      </p:sp>
      <p:sp>
        <p:nvSpPr>
          <p:cNvPr id="7" name="Text 4"/>
          <p:cNvSpPr/>
          <p:nvPr/>
        </p:nvSpPr>
        <p:spPr>
          <a:xfrm>
            <a:off x="731520" y="4434840"/>
            <a:ext cx="2926080" cy="594360"/>
          </a:xfrm>
          <a:prstGeom prst="rect">
            <a:avLst/>
          </a:prstGeom>
          <a:noFill/>
          <a:ln/>
        </p:spPr>
        <p:txBody>
          <a:bodyPr wrap="square" rtlCol="0" anchor="ctr"/>
          <a:lstStyle/>
          <a:p>
            <a:pPr algn="ctr" indent="0" marL="0">
              <a:buNone/>
            </a:pPr>
            <a:r>
              <a:rPr lang="en-US" sz="1400" dirty="0">
                <a:solidFill>
                  <a:srgbClr val="E8EAF0"/>
                </a:solidFill>
                <a:latin typeface="Calibri" pitchFamily="34" charset="0"/>
                <a:ea typeface="Calibri" pitchFamily="34" charset="-122"/>
                <a:cs typeface="Calibri" pitchFamily="34" charset="-120"/>
              </a:rPr>
              <a:t>Multi-table accuracy</a:t>
            </a:r>
            <a:endParaRPr lang="en-US" sz="1400" dirty="0"/>
          </a:p>
        </p:txBody>
      </p:sp>
      <p:sp>
        <p:nvSpPr>
          <p:cNvPr id="8" name="Shape 5"/>
          <p:cNvSpPr/>
          <p:nvPr/>
        </p:nvSpPr>
        <p:spPr>
          <a:xfrm>
            <a:off x="3931920" y="4434840"/>
            <a:ext cx="2926080" cy="594360"/>
          </a:xfrm>
          <a:prstGeom prst="roundRect">
            <a:avLst>
              <a:gd name="adj" fmla="val 49231"/>
            </a:avLst>
          </a:prstGeom>
          <a:solidFill>
            <a:srgbClr val="1B1E27"/>
          </a:solidFill>
          <a:ln w="12700">
            <a:solidFill>
              <a:srgbClr val="028090"/>
            </a:solidFill>
            <a:prstDash val="solid"/>
          </a:ln>
        </p:spPr>
      </p:sp>
      <p:sp>
        <p:nvSpPr>
          <p:cNvPr id="9" name="Text 6"/>
          <p:cNvSpPr/>
          <p:nvPr/>
        </p:nvSpPr>
        <p:spPr>
          <a:xfrm>
            <a:off x="3931920" y="4434840"/>
            <a:ext cx="2926080" cy="594360"/>
          </a:xfrm>
          <a:prstGeom prst="rect">
            <a:avLst/>
          </a:prstGeom>
          <a:noFill/>
          <a:ln/>
        </p:spPr>
        <p:txBody>
          <a:bodyPr wrap="square" rtlCol="0" anchor="ctr"/>
          <a:lstStyle/>
          <a:p>
            <a:pPr algn="ctr" indent="0" marL="0">
              <a:buNone/>
            </a:pPr>
            <a:r>
              <a:rPr lang="en-US" sz="1400" dirty="0">
                <a:solidFill>
                  <a:srgbClr val="E8EAF0"/>
                </a:solidFill>
                <a:latin typeface="Calibri" pitchFamily="34" charset="0"/>
                <a:ea typeface="Calibri" pitchFamily="34" charset="-122"/>
                <a:cs typeface="Calibri" pitchFamily="34" charset="-120"/>
              </a:rPr>
              <a:t>No hallucinated answers</a:t>
            </a:r>
            <a:endParaRPr lang="en-US" sz="1400" dirty="0"/>
          </a:p>
        </p:txBody>
      </p:sp>
      <p:sp>
        <p:nvSpPr>
          <p:cNvPr id="10" name="Shape 7"/>
          <p:cNvSpPr/>
          <p:nvPr/>
        </p:nvSpPr>
        <p:spPr>
          <a:xfrm>
            <a:off x="7132320" y="4434840"/>
            <a:ext cx="2926080" cy="594360"/>
          </a:xfrm>
          <a:prstGeom prst="roundRect">
            <a:avLst>
              <a:gd name="adj" fmla="val 49231"/>
            </a:avLst>
          </a:prstGeom>
          <a:solidFill>
            <a:srgbClr val="1B1E27"/>
          </a:solidFill>
          <a:ln w="12700">
            <a:solidFill>
              <a:srgbClr val="028090"/>
            </a:solidFill>
            <a:prstDash val="solid"/>
          </a:ln>
        </p:spPr>
      </p:sp>
      <p:sp>
        <p:nvSpPr>
          <p:cNvPr id="11" name="Text 8"/>
          <p:cNvSpPr/>
          <p:nvPr/>
        </p:nvSpPr>
        <p:spPr>
          <a:xfrm>
            <a:off x="7132320" y="4434840"/>
            <a:ext cx="2926080" cy="594360"/>
          </a:xfrm>
          <a:prstGeom prst="rect">
            <a:avLst/>
          </a:prstGeom>
          <a:noFill/>
          <a:ln/>
        </p:spPr>
        <p:txBody>
          <a:bodyPr wrap="square" rtlCol="0" anchor="ctr"/>
          <a:lstStyle/>
          <a:p>
            <a:pPr algn="ctr" indent="0" marL="0">
              <a:buNone/>
            </a:pPr>
            <a:r>
              <a:rPr lang="en-US" sz="1400" dirty="0">
                <a:solidFill>
                  <a:srgbClr val="E8EAF0"/>
                </a:solidFill>
                <a:latin typeface="Calibri" pitchFamily="34" charset="0"/>
                <a:ea typeface="Calibri" pitchFamily="34" charset="-122"/>
                <a:cs typeface="Calibri" pitchFamily="34" charset="-120"/>
              </a:rPr>
              <a:t>HIPAA-safe access control</a:t>
            </a:r>
            <a:endParaRPr lang="en-US" sz="1400" dirty="0"/>
          </a:p>
        </p:txBody>
      </p:sp>
      <p:sp>
        <p:nvSpPr>
          <p:cNvPr id="12" name="Text 9"/>
          <p:cNvSpPr/>
          <p:nvPr/>
        </p:nvSpPr>
        <p:spPr>
          <a:xfrm>
            <a:off x="731520" y="6126480"/>
            <a:ext cx="10698480" cy="365760"/>
          </a:xfrm>
          <a:prstGeom prst="rect">
            <a:avLst/>
          </a:prstGeom>
          <a:noFill/>
          <a:ln/>
        </p:spPr>
        <p:txBody>
          <a:bodyPr wrap="square" rtlCol="0" anchor="ctr"/>
          <a:lstStyle/>
          <a:p>
            <a:pPr indent="0" marL="0">
              <a:buNone/>
            </a:pPr>
            <a:r>
              <a:rPr lang="en-US" sz="1400" dirty="0">
                <a:solidFill>
                  <a:srgbClr val="9AA0AD"/>
                </a:solidFill>
                <a:latin typeface="Calibri" pitchFamily="34" charset="0"/>
                <a:ea typeface="Calibri" pitchFamily="34" charset="-122"/>
                <a:cs typeface="Calibri" pitchFamily="34" charset="-120"/>
              </a:rPr>
              <a:t>Buildathon Dallas  ·  Problem Statement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indent="0" marL="0">
              <a:buNone/>
            </a:pPr>
            <a:r>
              <a:rPr lang="en-US" sz="3600" b="1" dirty="0">
                <a:solidFill>
                  <a:srgbClr val="E8EAF0"/>
                </a:solidFill>
                <a:latin typeface="Cambria" pitchFamily="34" charset="0"/>
                <a:ea typeface="Cambria" pitchFamily="34" charset="-122"/>
                <a:cs typeface="Cambria" pitchFamily="34" charset="-120"/>
              </a:rPr>
              <a:t>The problem</a:t>
            </a:r>
            <a:endParaRPr lang="en-US" sz="3600" dirty="0"/>
          </a:p>
        </p:txBody>
      </p:sp>
      <p:sp>
        <p:nvSpPr>
          <p:cNvPr id="3" name="Shape 1"/>
          <p:cNvSpPr/>
          <p:nvPr/>
        </p:nvSpPr>
        <p:spPr>
          <a:xfrm>
            <a:off x="731520" y="1554480"/>
            <a:ext cx="10698480" cy="1325880"/>
          </a:xfrm>
          <a:prstGeom prst="roundRect">
            <a:avLst>
              <a:gd name="adj" fmla="val 8276"/>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4" name="Shape 2"/>
          <p:cNvSpPr/>
          <p:nvPr/>
        </p:nvSpPr>
        <p:spPr>
          <a:xfrm>
            <a:off x="1005840" y="1847088"/>
            <a:ext cx="731520" cy="731520"/>
          </a:xfrm>
          <a:prstGeom prst="ellipse">
            <a:avLst/>
          </a:prstGeom>
          <a:solidFill>
            <a:srgbClr val="B85042"/>
          </a:solidFill>
          <a:ln/>
          <a:effectLst>
            <a:outerShdw sx="100000" sy="100000" kx="0" ky="0" algn="bl" rotWithShape="0" blurRad="101600" dist="38100" dir="5400000">
              <a:srgbClr val="000000">
                <a:alpha val="25000"/>
              </a:srgbClr>
            </a:outerShdw>
          </a:effectLst>
        </p:spPr>
      </p:sp>
      <p:pic>
        <p:nvPicPr>
          <p:cNvPr id="5" name="Image 0" descr="preencoded.png">    </p:cNvPr>
          <p:cNvPicPr>
            <a:picLocks noChangeAspect="1"/>
          </p:cNvPicPr>
          <p:nvPr/>
        </p:nvPicPr>
        <p:blipFill>
          <a:blip r:embed="rId1"/>
          <a:stretch>
            <a:fillRect/>
          </a:stretch>
        </p:blipFill>
        <p:spPr>
          <a:xfrm>
            <a:off x="1196035" y="2037283"/>
            <a:ext cx="351130" cy="351130"/>
          </a:xfrm>
          <a:prstGeom prst="rect">
            <a:avLst/>
          </a:prstGeom>
        </p:spPr>
      </p:pic>
      <p:sp>
        <p:nvSpPr>
          <p:cNvPr id="6" name="Text 3"/>
          <p:cNvSpPr/>
          <p:nvPr/>
        </p:nvSpPr>
        <p:spPr>
          <a:xfrm>
            <a:off x="2011680" y="1737360"/>
            <a:ext cx="9144000" cy="457200"/>
          </a:xfrm>
          <a:prstGeom prst="rect">
            <a:avLst/>
          </a:prstGeom>
          <a:noFill/>
          <a:ln/>
        </p:spPr>
        <p:txBody>
          <a:bodyPr wrap="square" rtlCol="0" anchor="ctr"/>
          <a:lstStyle/>
          <a:p>
            <a:pPr indent="0" marL="0">
              <a:buNone/>
            </a:pPr>
            <a:r>
              <a:rPr lang="en-US" sz="2000" b="1" dirty="0">
                <a:solidFill>
                  <a:srgbClr val="02C39A"/>
                </a:solidFill>
                <a:latin typeface="Calibri" pitchFamily="34" charset="0"/>
                <a:ea typeface="Calibri" pitchFamily="34" charset="-122"/>
                <a:cs typeface="Calibri" pitchFamily="34" charset="-120"/>
              </a:rPr>
              <a:t>Accuracy breaks at scale</a:t>
            </a:r>
            <a:endParaRPr lang="en-US" sz="2000" dirty="0"/>
          </a:p>
        </p:txBody>
      </p:sp>
      <p:sp>
        <p:nvSpPr>
          <p:cNvPr id="7" name="Text 4"/>
          <p:cNvSpPr/>
          <p:nvPr/>
        </p:nvSpPr>
        <p:spPr>
          <a:xfrm>
            <a:off x="2011680" y="2212848"/>
            <a:ext cx="9144000" cy="548640"/>
          </a:xfrm>
          <a:prstGeom prst="rect">
            <a:avLst/>
          </a:prstGeom>
          <a:noFill/>
          <a:ln/>
        </p:spPr>
        <p:txBody>
          <a:bodyPr wrap="square" rtlCol="0" anchor="ctr"/>
          <a:lstStyle/>
          <a:p>
            <a:pPr indent="0" marL="0">
              <a:buNone/>
            </a:pPr>
            <a:r>
              <a:rPr lang="en-US" sz="1500" dirty="0">
                <a:solidFill>
                  <a:srgbClr val="9AA0AD"/>
                </a:solidFill>
                <a:latin typeface="Calibri" pitchFamily="34" charset="0"/>
                <a:ea typeface="Calibri" pitchFamily="34" charset="-122"/>
                <a:cs typeface="Calibri" pitchFamily="34" charset="-120"/>
              </a:rPr>
              <a:t>Text-to-SQL works on 1-2 tables, then hallucinates joins as more tables are added.</a:t>
            </a:r>
            <a:endParaRPr lang="en-US" sz="1500" dirty="0"/>
          </a:p>
        </p:txBody>
      </p:sp>
      <p:sp>
        <p:nvSpPr>
          <p:cNvPr id="8" name="Shape 5"/>
          <p:cNvSpPr/>
          <p:nvPr/>
        </p:nvSpPr>
        <p:spPr>
          <a:xfrm>
            <a:off x="731520" y="3063240"/>
            <a:ext cx="10698480" cy="1325880"/>
          </a:xfrm>
          <a:prstGeom prst="roundRect">
            <a:avLst>
              <a:gd name="adj" fmla="val 8276"/>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9" name="Shape 6"/>
          <p:cNvSpPr/>
          <p:nvPr/>
        </p:nvSpPr>
        <p:spPr>
          <a:xfrm>
            <a:off x="1005840" y="3355848"/>
            <a:ext cx="731520" cy="731520"/>
          </a:xfrm>
          <a:prstGeom prst="ellipse">
            <a:avLst/>
          </a:prstGeom>
          <a:solidFill>
            <a:srgbClr val="C2762E"/>
          </a:solidFill>
          <a:ln/>
          <a:effectLst>
            <a:outerShdw sx="100000" sy="100000" kx="0" ky="0" algn="bl" rotWithShape="0" blurRad="101600" dist="38100" dir="54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1196035" y="3546043"/>
            <a:ext cx="351130" cy="351130"/>
          </a:xfrm>
          <a:prstGeom prst="rect">
            <a:avLst/>
          </a:prstGeom>
        </p:spPr>
      </p:pic>
      <p:sp>
        <p:nvSpPr>
          <p:cNvPr id="11" name="Text 7"/>
          <p:cNvSpPr/>
          <p:nvPr/>
        </p:nvSpPr>
        <p:spPr>
          <a:xfrm>
            <a:off x="2011680" y="3246120"/>
            <a:ext cx="9144000" cy="457200"/>
          </a:xfrm>
          <a:prstGeom prst="rect">
            <a:avLst/>
          </a:prstGeom>
          <a:noFill/>
          <a:ln/>
        </p:spPr>
        <p:txBody>
          <a:bodyPr wrap="square" rtlCol="0" anchor="ctr"/>
          <a:lstStyle/>
          <a:p>
            <a:pPr indent="0" marL="0">
              <a:buNone/>
            </a:pPr>
            <a:r>
              <a:rPr lang="en-US" sz="2000" b="1" dirty="0">
                <a:solidFill>
                  <a:srgbClr val="02C39A"/>
                </a:solidFill>
                <a:latin typeface="Calibri" pitchFamily="34" charset="0"/>
                <a:ea typeface="Calibri" pitchFamily="34" charset="-122"/>
                <a:cs typeface="Calibri" pitchFamily="34" charset="-120"/>
              </a:rPr>
              <a:t>Answers get invented</a:t>
            </a:r>
            <a:endParaRPr lang="en-US" sz="2000" dirty="0"/>
          </a:p>
        </p:txBody>
      </p:sp>
      <p:sp>
        <p:nvSpPr>
          <p:cNvPr id="12" name="Text 8"/>
          <p:cNvSpPr/>
          <p:nvPr/>
        </p:nvSpPr>
        <p:spPr>
          <a:xfrm>
            <a:off x="2011680" y="3721608"/>
            <a:ext cx="9144000" cy="548640"/>
          </a:xfrm>
          <a:prstGeom prst="rect">
            <a:avLst/>
          </a:prstGeom>
          <a:noFill/>
          <a:ln/>
        </p:spPr>
        <p:txBody>
          <a:bodyPr wrap="square" rtlCol="0" anchor="ctr"/>
          <a:lstStyle/>
          <a:p>
            <a:pPr indent="0" marL="0">
              <a:buNone/>
            </a:pPr>
            <a:r>
              <a:rPr lang="en-US" sz="1500" dirty="0">
                <a:solidFill>
                  <a:srgbClr val="9AA0AD"/>
                </a:solidFill>
                <a:latin typeface="Calibri" pitchFamily="34" charset="0"/>
                <a:ea typeface="Calibri" pitchFamily="34" charset="-122"/>
                <a:cs typeface="Calibri" pitchFamily="34" charset="-120"/>
              </a:rPr>
              <a:t>Models confidently make up numbers that aren't in the data.</a:t>
            </a:r>
            <a:endParaRPr lang="en-US" sz="1500" dirty="0"/>
          </a:p>
        </p:txBody>
      </p:sp>
      <p:sp>
        <p:nvSpPr>
          <p:cNvPr id="13" name="Shape 9"/>
          <p:cNvSpPr/>
          <p:nvPr/>
        </p:nvSpPr>
        <p:spPr>
          <a:xfrm>
            <a:off x="731520" y="4572000"/>
            <a:ext cx="10698480" cy="1325880"/>
          </a:xfrm>
          <a:prstGeom prst="roundRect">
            <a:avLst>
              <a:gd name="adj" fmla="val 8276"/>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14" name="Shape 10"/>
          <p:cNvSpPr/>
          <p:nvPr/>
        </p:nvSpPr>
        <p:spPr>
          <a:xfrm>
            <a:off x="1005840" y="4864608"/>
            <a:ext cx="731520" cy="73152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5" name="Image 2" descr="preencoded.png">    </p:cNvPr>
          <p:cNvPicPr>
            <a:picLocks noChangeAspect="1"/>
          </p:cNvPicPr>
          <p:nvPr/>
        </p:nvPicPr>
        <p:blipFill>
          <a:blip r:embed="rId3"/>
          <a:stretch>
            <a:fillRect/>
          </a:stretch>
        </p:blipFill>
        <p:spPr>
          <a:xfrm>
            <a:off x="1196035" y="5054803"/>
            <a:ext cx="351130" cy="351130"/>
          </a:xfrm>
          <a:prstGeom prst="rect">
            <a:avLst/>
          </a:prstGeom>
        </p:spPr>
      </p:pic>
      <p:sp>
        <p:nvSpPr>
          <p:cNvPr id="16" name="Text 11"/>
          <p:cNvSpPr/>
          <p:nvPr/>
        </p:nvSpPr>
        <p:spPr>
          <a:xfrm>
            <a:off x="2011680" y="4754880"/>
            <a:ext cx="9144000" cy="457200"/>
          </a:xfrm>
          <a:prstGeom prst="rect">
            <a:avLst/>
          </a:prstGeom>
          <a:noFill/>
          <a:ln/>
        </p:spPr>
        <p:txBody>
          <a:bodyPr wrap="square" rtlCol="0" anchor="ctr"/>
          <a:lstStyle/>
          <a:p>
            <a:pPr indent="0" marL="0">
              <a:buNone/>
            </a:pPr>
            <a:r>
              <a:rPr lang="en-US" sz="2000" b="1" dirty="0">
                <a:solidFill>
                  <a:srgbClr val="02C39A"/>
                </a:solidFill>
                <a:latin typeface="Calibri" pitchFamily="34" charset="0"/>
                <a:ea typeface="Calibri" pitchFamily="34" charset="-122"/>
                <a:cs typeface="Calibri" pitchFamily="34" charset="-120"/>
              </a:rPr>
              <a:t>Sensitive data leaks</a:t>
            </a:r>
            <a:endParaRPr lang="en-US" sz="2000" dirty="0"/>
          </a:p>
        </p:txBody>
      </p:sp>
      <p:sp>
        <p:nvSpPr>
          <p:cNvPr id="17" name="Text 12"/>
          <p:cNvSpPr/>
          <p:nvPr/>
        </p:nvSpPr>
        <p:spPr>
          <a:xfrm>
            <a:off x="2011680" y="5230368"/>
            <a:ext cx="9144000" cy="548640"/>
          </a:xfrm>
          <a:prstGeom prst="rect">
            <a:avLst/>
          </a:prstGeom>
          <a:noFill/>
          <a:ln/>
        </p:spPr>
        <p:txBody>
          <a:bodyPr wrap="square" rtlCol="0" anchor="ctr"/>
          <a:lstStyle/>
          <a:p>
            <a:pPr indent="0" marL="0">
              <a:buNone/>
            </a:pPr>
            <a:r>
              <a:rPr lang="en-US" sz="1500" dirty="0">
                <a:solidFill>
                  <a:srgbClr val="9AA0AD"/>
                </a:solidFill>
                <a:latin typeface="Calibri" pitchFamily="34" charset="0"/>
                <a:ea typeface="Calibri" pitchFamily="34" charset="-122"/>
                <a:cs typeface="Calibri" pitchFamily="34" charset="-120"/>
              </a:rPr>
              <a:t>Tables hold PHI and PII — access control is non-negotiable.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indent="0" marL="0">
              <a:buNone/>
            </a:pPr>
            <a:r>
              <a:rPr lang="en-US" sz="3600" b="1" dirty="0">
                <a:solidFill>
                  <a:srgbClr val="E8EAF0"/>
                </a:solidFill>
                <a:latin typeface="Cambria" pitchFamily="34" charset="0"/>
                <a:ea typeface="Cambria" pitchFamily="34" charset="-122"/>
                <a:cs typeface="Cambria" pitchFamily="34" charset="-120"/>
              </a:rPr>
              <a:t>How it works</a:t>
            </a:r>
            <a:endParaRPr lang="en-US" sz="3600" dirty="0"/>
          </a:p>
        </p:txBody>
      </p:sp>
      <p:sp>
        <p:nvSpPr>
          <p:cNvPr id="3" name="Shape 1"/>
          <p:cNvSpPr/>
          <p:nvPr/>
        </p:nvSpPr>
        <p:spPr>
          <a:xfrm>
            <a:off x="731520" y="2011680"/>
            <a:ext cx="1920240" cy="1783080"/>
          </a:xfrm>
          <a:prstGeom prst="roundRect">
            <a:avLst>
              <a:gd name="adj" fmla="val 6154"/>
            </a:avLst>
          </a:prstGeom>
          <a:solidFill>
            <a:srgbClr val="1B1E27"/>
          </a:solidFill>
          <a:ln w="12700">
            <a:solidFill>
              <a:srgbClr val="028090"/>
            </a:solidFill>
            <a:prstDash val="solid"/>
          </a:ln>
          <a:effectLst>
            <a:outerShdw sx="100000" sy="100000" kx="0" ky="0" algn="bl" rotWithShape="0" blurRad="101600" dist="38100" dir="5400000">
              <a:srgbClr val="000000">
                <a:alpha val="25000"/>
              </a:srgbClr>
            </a:outerShdw>
          </a:effectLst>
        </p:spPr>
      </p:sp>
      <p:sp>
        <p:nvSpPr>
          <p:cNvPr id="4" name="Shape 2"/>
          <p:cNvSpPr/>
          <p:nvPr/>
        </p:nvSpPr>
        <p:spPr>
          <a:xfrm>
            <a:off x="1417320" y="2194560"/>
            <a:ext cx="548640" cy="54864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5" name="Image 0" descr="preencoded.png">    </p:cNvPr>
          <p:cNvPicPr>
            <a:picLocks noChangeAspect="1"/>
          </p:cNvPicPr>
          <p:nvPr/>
        </p:nvPicPr>
        <p:blipFill>
          <a:blip r:embed="rId1"/>
          <a:stretch>
            <a:fillRect/>
          </a:stretch>
        </p:blipFill>
        <p:spPr>
          <a:xfrm>
            <a:off x="1559966" y="2337206"/>
            <a:ext cx="263347" cy="263347"/>
          </a:xfrm>
          <a:prstGeom prst="rect">
            <a:avLst/>
          </a:prstGeom>
        </p:spPr>
      </p:pic>
      <p:sp>
        <p:nvSpPr>
          <p:cNvPr id="6" name="Text 3"/>
          <p:cNvSpPr/>
          <p:nvPr/>
        </p:nvSpPr>
        <p:spPr>
          <a:xfrm>
            <a:off x="731520" y="2788920"/>
            <a:ext cx="1920240" cy="3200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31520" y="3108960"/>
            <a:ext cx="1920240" cy="640080"/>
          </a:xfrm>
          <a:prstGeom prst="rect">
            <a:avLst/>
          </a:prstGeom>
          <a:noFill/>
          <a:ln/>
        </p:spPr>
        <p:txBody>
          <a:bodyPr wrap="square" rtlCol="0" anchor="ctr"/>
          <a:lstStyle/>
          <a:p>
            <a:pPr algn="ctr" indent="0" marL="0">
              <a:buNone/>
            </a:pPr>
            <a:r>
              <a:rPr lang="en-US" sz="1300" dirty="0">
                <a:solidFill>
                  <a:srgbClr val="E8EAF0"/>
                </a:solidFill>
                <a:latin typeface="Calibri" pitchFamily="34" charset="0"/>
                <a:ea typeface="Calibri" pitchFamily="34" charset="-122"/>
                <a:cs typeface="Calibri" pitchFamily="34" charset="-120"/>
              </a:rPr>
              <a:t>Plain-English</a:t>
            </a:r>
            <a:endParaRPr lang="en-US" sz="1300" dirty="0"/>
          </a:p>
          <a:p>
            <a:pPr algn="ctr" indent="0" marL="0">
              <a:buNone/>
            </a:pPr>
            <a:r>
              <a:rPr lang="en-US" sz="1300" dirty="0">
                <a:solidFill>
                  <a:srgbClr val="E8EAF0"/>
                </a:solidFill>
                <a:latin typeface="Calibri" pitchFamily="34" charset="0"/>
                <a:ea typeface="Calibri" pitchFamily="34" charset="-122"/>
                <a:cs typeface="Calibri" pitchFamily="34" charset="-120"/>
              </a:rPr>
              <a:t>question</a:t>
            </a:r>
            <a:endParaRPr lang="en-US" sz="1300" dirty="0"/>
          </a:p>
        </p:txBody>
      </p:sp>
      <p:sp>
        <p:nvSpPr>
          <p:cNvPr id="8" name="Text 5"/>
          <p:cNvSpPr/>
          <p:nvPr/>
        </p:nvSpPr>
        <p:spPr>
          <a:xfrm>
            <a:off x="2633472" y="2468880"/>
            <a:ext cx="365760" cy="914400"/>
          </a:xfrm>
          <a:prstGeom prst="rect">
            <a:avLst/>
          </a:prstGeom>
          <a:noFill/>
          <a:ln/>
        </p:spPr>
        <p:txBody>
          <a:bodyPr wrap="square" rtlCol="0" anchor="ctr"/>
          <a:lstStyle/>
          <a:p>
            <a:pPr algn="ctr" indent="0" marL="0">
              <a:buNone/>
            </a:pPr>
            <a:r>
              <a:rPr lang="en-US" sz="2200" dirty="0">
                <a:solidFill>
                  <a:srgbClr val="028090"/>
                </a:solidFill>
              </a:rPr>
              <a:t>→</a:t>
            </a:r>
            <a:endParaRPr lang="en-US" sz="2200" dirty="0"/>
          </a:p>
        </p:txBody>
      </p:sp>
      <p:sp>
        <p:nvSpPr>
          <p:cNvPr id="9" name="Shape 6"/>
          <p:cNvSpPr/>
          <p:nvPr/>
        </p:nvSpPr>
        <p:spPr>
          <a:xfrm>
            <a:off x="2971800" y="2011680"/>
            <a:ext cx="1920240" cy="1783080"/>
          </a:xfrm>
          <a:prstGeom prst="roundRect">
            <a:avLst>
              <a:gd name="adj" fmla="val 6154"/>
            </a:avLst>
          </a:prstGeom>
          <a:solidFill>
            <a:srgbClr val="1B1E27"/>
          </a:solidFill>
          <a:ln w="12700">
            <a:solidFill>
              <a:srgbClr val="028090"/>
            </a:solidFill>
            <a:prstDash val="solid"/>
          </a:ln>
          <a:effectLst>
            <a:outerShdw sx="100000" sy="100000" kx="0" ky="0" algn="bl" rotWithShape="0" blurRad="101600" dist="38100" dir="5400000">
              <a:srgbClr val="000000">
                <a:alpha val="25000"/>
              </a:srgbClr>
            </a:outerShdw>
          </a:effectLst>
        </p:spPr>
      </p:sp>
      <p:sp>
        <p:nvSpPr>
          <p:cNvPr id="10" name="Shape 7"/>
          <p:cNvSpPr/>
          <p:nvPr/>
        </p:nvSpPr>
        <p:spPr>
          <a:xfrm>
            <a:off x="3657600" y="2194560"/>
            <a:ext cx="548640" cy="54864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3800246" y="2337206"/>
            <a:ext cx="263347" cy="263347"/>
          </a:xfrm>
          <a:prstGeom prst="rect">
            <a:avLst/>
          </a:prstGeom>
        </p:spPr>
      </p:pic>
      <p:sp>
        <p:nvSpPr>
          <p:cNvPr id="12" name="Text 8"/>
          <p:cNvSpPr/>
          <p:nvPr/>
        </p:nvSpPr>
        <p:spPr>
          <a:xfrm>
            <a:off x="2971800" y="2788920"/>
            <a:ext cx="1920240" cy="3200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2.</a:t>
            </a:r>
            <a:endParaRPr lang="en-US" sz="1600" dirty="0"/>
          </a:p>
        </p:txBody>
      </p:sp>
      <p:sp>
        <p:nvSpPr>
          <p:cNvPr id="13" name="Text 9"/>
          <p:cNvSpPr/>
          <p:nvPr/>
        </p:nvSpPr>
        <p:spPr>
          <a:xfrm>
            <a:off x="2971800" y="3108960"/>
            <a:ext cx="1920240" cy="640080"/>
          </a:xfrm>
          <a:prstGeom prst="rect">
            <a:avLst/>
          </a:prstGeom>
          <a:noFill/>
          <a:ln/>
        </p:spPr>
        <p:txBody>
          <a:bodyPr wrap="square" rtlCol="0" anchor="ctr"/>
          <a:lstStyle/>
          <a:p>
            <a:pPr algn="ctr" indent="0" marL="0">
              <a:buNone/>
            </a:pPr>
            <a:r>
              <a:rPr lang="en-US" sz="1300" dirty="0">
                <a:solidFill>
                  <a:srgbClr val="E8EAF0"/>
                </a:solidFill>
                <a:latin typeface="Calibri" pitchFamily="34" charset="0"/>
                <a:ea typeface="Calibri" pitchFamily="34" charset="-122"/>
                <a:cs typeface="Calibri" pitchFamily="34" charset="-120"/>
              </a:rPr>
              <a:t>Smart table</a:t>
            </a:r>
            <a:endParaRPr lang="en-US" sz="1300" dirty="0"/>
          </a:p>
          <a:p>
            <a:pPr algn="ctr" indent="0" marL="0">
              <a:buNone/>
            </a:pPr>
            <a:r>
              <a:rPr lang="en-US" sz="1300" dirty="0">
                <a:solidFill>
                  <a:srgbClr val="E8EAF0"/>
                </a:solidFill>
                <a:latin typeface="Calibri" pitchFamily="34" charset="0"/>
                <a:ea typeface="Calibri" pitchFamily="34" charset="-122"/>
                <a:cs typeface="Calibri" pitchFamily="34" charset="-120"/>
              </a:rPr>
              <a:t>selection</a:t>
            </a:r>
            <a:endParaRPr lang="en-US" sz="1300" dirty="0"/>
          </a:p>
        </p:txBody>
      </p:sp>
      <p:sp>
        <p:nvSpPr>
          <p:cNvPr id="14" name="Text 10"/>
          <p:cNvSpPr/>
          <p:nvPr/>
        </p:nvSpPr>
        <p:spPr>
          <a:xfrm>
            <a:off x="4873752" y="2468880"/>
            <a:ext cx="365760" cy="914400"/>
          </a:xfrm>
          <a:prstGeom prst="rect">
            <a:avLst/>
          </a:prstGeom>
          <a:noFill/>
          <a:ln/>
        </p:spPr>
        <p:txBody>
          <a:bodyPr wrap="square" rtlCol="0" anchor="ctr"/>
          <a:lstStyle/>
          <a:p>
            <a:pPr algn="ctr" indent="0" marL="0">
              <a:buNone/>
            </a:pPr>
            <a:r>
              <a:rPr lang="en-US" sz="2200" dirty="0">
                <a:solidFill>
                  <a:srgbClr val="028090"/>
                </a:solidFill>
              </a:rPr>
              <a:t>→</a:t>
            </a:r>
            <a:endParaRPr lang="en-US" sz="2200" dirty="0"/>
          </a:p>
        </p:txBody>
      </p:sp>
      <p:sp>
        <p:nvSpPr>
          <p:cNvPr id="15" name="Shape 11"/>
          <p:cNvSpPr/>
          <p:nvPr/>
        </p:nvSpPr>
        <p:spPr>
          <a:xfrm>
            <a:off x="5212080" y="2011680"/>
            <a:ext cx="1920240" cy="1783080"/>
          </a:xfrm>
          <a:prstGeom prst="roundRect">
            <a:avLst>
              <a:gd name="adj" fmla="val 6154"/>
            </a:avLst>
          </a:prstGeom>
          <a:solidFill>
            <a:srgbClr val="1B1E27"/>
          </a:solidFill>
          <a:ln w="12700">
            <a:solidFill>
              <a:srgbClr val="028090"/>
            </a:solidFill>
            <a:prstDash val="solid"/>
          </a:ln>
          <a:effectLst>
            <a:outerShdw sx="100000" sy="100000" kx="0" ky="0" algn="bl" rotWithShape="0" blurRad="101600" dist="38100" dir="5400000">
              <a:srgbClr val="000000">
                <a:alpha val="25000"/>
              </a:srgbClr>
            </a:outerShdw>
          </a:effectLst>
        </p:spPr>
      </p:sp>
      <p:sp>
        <p:nvSpPr>
          <p:cNvPr id="16" name="Shape 12"/>
          <p:cNvSpPr/>
          <p:nvPr/>
        </p:nvSpPr>
        <p:spPr>
          <a:xfrm>
            <a:off x="5897880" y="2194560"/>
            <a:ext cx="548640" cy="54864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7" name="Image 2" descr="preencoded.png">    </p:cNvPr>
          <p:cNvPicPr>
            <a:picLocks noChangeAspect="1"/>
          </p:cNvPicPr>
          <p:nvPr/>
        </p:nvPicPr>
        <p:blipFill>
          <a:blip r:embed="rId3"/>
          <a:stretch>
            <a:fillRect/>
          </a:stretch>
        </p:blipFill>
        <p:spPr>
          <a:xfrm>
            <a:off x="6040526" y="2337206"/>
            <a:ext cx="263347" cy="263347"/>
          </a:xfrm>
          <a:prstGeom prst="rect">
            <a:avLst/>
          </a:prstGeom>
        </p:spPr>
      </p:pic>
      <p:sp>
        <p:nvSpPr>
          <p:cNvPr id="18" name="Text 13"/>
          <p:cNvSpPr/>
          <p:nvPr/>
        </p:nvSpPr>
        <p:spPr>
          <a:xfrm>
            <a:off x="5212080" y="2788920"/>
            <a:ext cx="1920240" cy="3200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3.</a:t>
            </a:r>
            <a:endParaRPr lang="en-US" sz="1600" dirty="0"/>
          </a:p>
        </p:txBody>
      </p:sp>
      <p:sp>
        <p:nvSpPr>
          <p:cNvPr id="19" name="Text 14"/>
          <p:cNvSpPr/>
          <p:nvPr/>
        </p:nvSpPr>
        <p:spPr>
          <a:xfrm>
            <a:off x="5212080" y="3108960"/>
            <a:ext cx="1920240" cy="640080"/>
          </a:xfrm>
          <a:prstGeom prst="rect">
            <a:avLst/>
          </a:prstGeom>
          <a:noFill/>
          <a:ln/>
        </p:spPr>
        <p:txBody>
          <a:bodyPr wrap="square" rtlCol="0" anchor="ctr"/>
          <a:lstStyle/>
          <a:p>
            <a:pPr algn="ctr" indent="0" marL="0">
              <a:buNone/>
            </a:pPr>
            <a:r>
              <a:rPr lang="en-US" sz="1300" dirty="0">
                <a:solidFill>
                  <a:srgbClr val="E8EAF0"/>
                </a:solidFill>
                <a:latin typeface="Calibri" pitchFamily="34" charset="0"/>
                <a:ea typeface="Calibri" pitchFamily="34" charset="-122"/>
                <a:cs typeface="Calibri" pitchFamily="34" charset="-120"/>
              </a:rPr>
              <a:t>Access</a:t>
            </a:r>
            <a:endParaRPr lang="en-US" sz="1300" dirty="0"/>
          </a:p>
          <a:p>
            <a:pPr algn="ctr" indent="0" marL="0">
              <a:buNone/>
            </a:pPr>
            <a:r>
              <a:rPr lang="en-US" sz="1300" dirty="0">
                <a:solidFill>
                  <a:srgbClr val="E8EAF0"/>
                </a:solidFill>
                <a:latin typeface="Calibri" pitchFamily="34" charset="0"/>
                <a:ea typeface="Calibri" pitchFamily="34" charset="-122"/>
                <a:cs typeface="Calibri" pitchFamily="34" charset="-120"/>
              </a:rPr>
              <a:t>control</a:t>
            </a:r>
            <a:endParaRPr lang="en-US" sz="1300" dirty="0"/>
          </a:p>
        </p:txBody>
      </p:sp>
      <p:sp>
        <p:nvSpPr>
          <p:cNvPr id="20" name="Text 15"/>
          <p:cNvSpPr/>
          <p:nvPr/>
        </p:nvSpPr>
        <p:spPr>
          <a:xfrm>
            <a:off x="7114032" y="2468880"/>
            <a:ext cx="365760" cy="914400"/>
          </a:xfrm>
          <a:prstGeom prst="rect">
            <a:avLst/>
          </a:prstGeom>
          <a:noFill/>
          <a:ln/>
        </p:spPr>
        <p:txBody>
          <a:bodyPr wrap="square" rtlCol="0" anchor="ctr"/>
          <a:lstStyle/>
          <a:p>
            <a:pPr algn="ctr" indent="0" marL="0">
              <a:buNone/>
            </a:pPr>
            <a:r>
              <a:rPr lang="en-US" sz="2200" dirty="0">
                <a:solidFill>
                  <a:srgbClr val="028090"/>
                </a:solidFill>
              </a:rPr>
              <a:t>→</a:t>
            </a:r>
            <a:endParaRPr lang="en-US" sz="2200" dirty="0"/>
          </a:p>
        </p:txBody>
      </p:sp>
      <p:sp>
        <p:nvSpPr>
          <p:cNvPr id="21" name="Shape 16"/>
          <p:cNvSpPr/>
          <p:nvPr/>
        </p:nvSpPr>
        <p:spPr>
          <a:xfrm>
            <a:off x="7452360" y="2011680"/>
            <a:ext cx="1920240" cy="1783080"/>
          </a:xfrm>
          <a:prstGeom prst="roundRect">
            <a:avLst>
              <a:gd name="adj" fmla="val 6154"/>
            </a:avLst>
          </a:prstGeom>
          <a:solidFill>
            <a:srgbClr val="1B1E27"/>
          </a:solidFill>
          <a:ln w="12700">
            <a:solidFill>
              <a:srgbClr val="028090"/>
            </a:solidFill>
            <a:prstDash val="solid"/>
          </a:ln>
          <a:effectLst>
            <a:outerShdw sx="100000" sy="100000" kx="0" ky="0" algn="bl" rotWithShape="0" blurRad="101600" dist="38100" dir="5400000">
              <a:srgbClr val="000000">
                <a:alpha val="25000"/>
              </a:srgbClr>
            </a:outerShdw>
          </a:effectLst>
        </p:spPr>
      </p:sp>
      <p:sp>
        <p:nvSpPr>
          <p:cNvPr id="22" name="Shape 17"/>
          <p:cNvSpPr/>
          <p:nvPr/>
        </p:nvSpPr>
        <p:spPr>
          <a:xfrm>
            <a:off x="8138160" y="2194560"/>
            <a:ext cx="548640" cy="54864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23" name="Image 3" descr="preencoded.png">    </p:cNvPr>
          <p:cNvPicPr>
            <a:picLocks noChangeAspect="1"/>
          </p:cNvPicPr>
          <p:nvPr/>
        </p:nvPicPr>
        <p:blipFill>
          <a:blip r:embed="rId4"/>
          <a:stretch>
            <a:fillRect/>
          </a:stretch>
        </p:blipFill>
        <p:spPr>
          <a:xfrm>
            <a:off x="8280806" y="2337206"/>
            <a:ext cx="263347" cy="263347"/>
          </a:xfrm>
          <a:prstGeom prst="rect">
            <a:avLst/>
          </a:prstGeom>
        </p:spPr>
      </p:pic>
      <p:sp>
        <p:nvSpPr>
          <p:cNvPr id="24" name="Text 18"/>
          <p:cNvSpPr/>
          <p:nvPr/>
        </p:nvSpPr>
        <p:spPr>
          <a:xfrm>
            <a:off x="7452360" y="2788920"/>
            <a:ext cx="1920240" cy="3200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4.</a:t>
            </a:r>
            <a:endParaRPr lang="en-US" sz="1600" dirty="0"/>
          </a:p>
        </p:txBody>
      </p:sp>
      <p:sp>
        <p:nvSpPr>
          <p:cNvPr id="25" name="Text 19"/>
          <p:cNvSpPr/>
          <p:nvPr/>
        </p:nvSpPr>
        <p:spPr>
          <a:xfrm>
            <a:off x="7452360" y="3108960"/>
            <a:ext cx="1920240" cy="640080"/>
          </a:xfrm>
          <a:prstGeom prst="rect">
            <a:avLst/>
          </a:prstGeom>
          <a:noFill/>
          <a:ln/>
        </p:spPr>
        <p:txBody>
          <a:bodyPr wrap="square" rtlCol="0" anchor="ctr"/>
          <a:lstStyle/>
          <a:p>
            <a:pPr algn="ctr" indent="0" marL="0">
              <a:buNone/>
            </a:pPr>
            <a:r>
              <a:rPr lang="en-US" sz="1300" dirty="0">
                <a:solidFill>
                  <a:srgbClr val="E8EAF0"/>
                </a:solidFill>
                <a:latin typeface="Calibri" pitchFamily="34" charset="0"/>
                <a:ea typeface="Calibri" pitchFamily="34" charset="-122"/>
                <a:cs typeface="Calibri" pitchFamily="34" charset="-120"/>
              </a:rPr>
              <a:t>Generate &amp;</a:t>
            </a:r>
            <a:endParaRPr lang="en-US" sz="1300" dirty="0"/>
          </a:p>
          <a:p>
            <a:pPr algn="ctr" indent="0" marL="0">
              <a:buNone/>
            </a:pPr>
            <a:r>
              <a:rPr lang="en-US" sz="1300" dirty="0">
                <a:solidFill>
                  <a:srgbClr val="E8EAF0"/>
                </a:solidFill>
                <a:latin typeface="Calibri" pitchFamily="34" charset="0"/>
                <a:ea typeface="Calibri" pitchFamily="34" charset="-122"/>
                <a:cs typeface="Calibri" pitchFamily="34" charset="-120"/>
              </a:rPr>
              <a:t>run SQL</a:t>
            </a:r>
            <a:endParaRPr lang="en-US" sz="1300" dirty="0"/>
          </a:p>
        </p:txBody>
      </p:sp>
      <p:sp>
        <p:nvSpPr>
          <p:cNvPr id="26" name="Text 20"/>
          <p:cNvSpPr/>
          <p:nvPr/>
        </p:nvSpPr>
        <p:spPr>
          <a:xfrm>
            <a:off x="9354312" y="2468880"/>
            <a:ext cx="365760" cy="914400"/>
          </a:xfrm>
          <a:prstGeom prst="rect">
            <a:avLst/>
          </a:prstGeom>
          <a:noFill/>
          <a:ln/>
        </p:spPr>
        <p:txBody>
          <a:bodyPr wrap="square" rtlCol="0" anchor="ctr"/>
          <a:lstStyle/>
          <a:p>
            <a:pPr algn="ctr" indent="0" marL="0">
              <a:buNone/>
            </a:pPr>
            <a:r>
              <a:rPr lang="en-US" sz="2200" dirty="0">
                <a:solidFill>
                  <a:srgbClr val="028090"/>
                </a:solidFill>
              </a:rPr>
              <a:t>→</a:t>
            </a:r>
            <a:endParaRPr lang="en-US" sz="2200" dirty="0"/>
          </a:p>
        </p:txBody>
      </p:sp>
      <p:sp>
        <p:nvSpPr>
          <p:cNvPr id="27" name="Shape 21"/>
          <p:cNvSpPr/>
          <p:nvPr/>
        </p:nvSpPr>
        <p:spPr>
          <a:xfrm>
            <a:off x="9692640" y="2011680"/>
            <a:ext cx="1920240" cy="1783080"/>
          </a:xfrm>
          <a:prstGeom prst="roundRect">
            <a:avLst>
              <a:gd name="adj" fmla="val 6154"/>
            </a:avLst>
          </a:prstGeom>
          <a:solidFill>
            <a:srgbClr val="1B1E27"/>
          </a:solidFill>
          <a:ln w="12700">
            <a:solidFill>
              <a:srgbClr val="028090"/>
            </a:solidFill>
            <a:prstDash val="solid"/>
          </a:ln>
          <a:effectLst>
            <a:outerShdw sx="100000" sy="100000" kx="0" ky="0" algn="bl" rotWithShape="0" blurRad="101600" dist="38100" dir="5400000">
              <a:srgbClr val="000000">
                <a:alpha val="25000"/>
              </a:srgbClr>
            </a:outerShdw>
          </a:effectLst>
        </p:spPr>
      </p:sp>
      <p:sp>
        <p:nvSpPr>
          <p:cNvPr id="28" name="Shape 22"/>
          <p:cNvSpPr/>
          <p:nvPr/>
        </p:nvSpPr>
        <p:spPr>
          <a:xfrm>
            <a:off x="10378440" y="2194560"/>
            <a:ext cx="548640" cy="54864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29" name="Image 4" descr="preencoded.png">    </p:cNvPr>
          <p:cNvPicPr>
            <a:picLocks noChangeAspect="1"/>
          </p:cNvPicPr>
          <p:nvPr/>
        </p:nvPicPr>
        <p:blipFill>
          <a:blip r:embed="rId5"/>
          <a:stretch>
            <a:fillRect/>
          </a:stretch>
        </p:blipFill>
        <p:spPr>
          <a:xfrm>
            <a:off x="10521086" y="2337206"/>
            <a:ext cx="263347" cy="263347"/>
          </a:xfrm>
          <a:prstGeom prst="rect">
            <a:avLst/>
          </a:prstGeom>
        </p:spPr>
      </p:pic>
      <p:sp>
        <p:nvSpPr>
          <p:cNvPr id="30" name="Text 23"/>
          <p:cNvSpPr/>
          <p:nvPr/>
        </p:nvSpPr>
        <p:spPr>
          <a:xfrm>
            <a:off x="9692640" y="2788920"/>
            <a:ext cx="1920240" cy="32004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5.</a:t>
            </a:r>
            <a:endParaRPr lang="en-US" sz="1600" dirty="0"/>
          </a:p>
        </p:txBody>
      </p:sp>
      <p:sp>
        <p:nvSpPr>
          <p:cNvPr id="31" name="Text 24"/>
          <p:cNvSpPr/>
          <p:nvPr/>
        </p:nvSpPr>
        <p:spPr>
          <a:xfrm>
            <a:off x="9692640" y="3108960"/>
            <a:ext cx="1920240" cy="640080"/>
          </a:xfrm>
          <a:prstGeom prst="rect">
            <a:avLst/>
          </a:prstGeom>
          <a:noFill/>
          <a:ln/>
        </p:spPr>
        <p:txBody>
          <a:bodyPr wrap="square" rtlCol="0" anchor="ctr"/>
          <a:lstStyle/>
          <a:p>
            <a:pPr algn="ctr" indent="0" marL="0">
              <a:buNone/>
            </a:pPr>
            <a:r>
              <a:rPr lang="en-US" sz="1300" dirty="0">
                <a:solidFill>
                  <a:srgbClr val="E8EAF0"/>
                </a:solidFill>
                <a:latin typeface="Calibri" pitchFamily="34" charset="0"/>
                <a:ea typeface="Calibri" pitchFamily="34" charset="-122"/>
                <a:cs typeface="Calibri" pitchFamily="34" charset="-120"/>
              </a:rPr>
              <a:t>Grounded</a:t>
            </a:r>
            <a:endParaRPr lang="en-US" sz="1300" dirty="0"/>
          </a:p>
          <a:p>
            <a:pPr algn="ctr" indent="0" marL="0">
              <a:buNone/>
            </a:pPr>
            <a:r>
              <a:rPr lang="en-US" sz="1300" dirty="0">
                <a:solidFill>
                  <a:srgbClr val="E8EAF0"/>
                </a:solidFill>
                <a:latin typeface="Calibri" pitchFamily="34" charset="0"/>
                <a:ea typeface="Calibri" pitchFamily="34" charset="-122"/>
                <a:cs typeface="Calibri" pitchFamily="34" charset="-120"/>
              </a:rPr>
              <a:t>answer</a:t>
            </a:r>
            <a:endParaRPr lang="en-US" sz="1300" dirty="0"/>
          </a:p>
        </p:txBody>
      </p:sp>
      <p:sp>
        <p:nvSpPr>
          <p:cNvPr id="32" name="Text 25"/>
          <p:cNvSpPr/>
          <p:nvPr/>
        </p:nvSpPr>
        <p:spPr>
          <a:xfrm>
            <a:off x="731520" y="4297680"/>
            <a:ext cx="10698480" cy="731520"/>
          </a:xfrm>
          <a:prstGeom prst="rect">
            <a:avLst/>
          </a:prstGeom>
          <a:noFill/>
          <a:ln/>
        </p:spPr>
        <p:txBody>
          <a:bodyPr wrap="square" rtlCol="0" anchor="ctr"/>
          <a:lstStyle/>
          <a:p>
            <a:pPr indent="0" marL="0">
              <a:buNone/>
            </a:pPr>
            <a:r>
              <a:rPr lang="en-US" sz="1600" i="1" dirty="0">
                <a:solidFill>
                  <a:srgbClr val="00A896"/>
                </a:solidFill>
                <a:latin typeface="Calibri" pitchFamily="34" charset="0"/>
                <a:ea typeface="Calibri" pitchFamily="34" charset="-122"/>
                <a:cs typeface="Calibri" pitchFamily="34" charset="-120"/>
              </a:rPr>
              <a:t>The key idea: pruning the schema to only relevant tables BEFORE writing SQL keeps accuracy high as the database grows.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indent="0" marL="0">
              <a:buNone/>
            </a:pPr>
            <a:r>
              <a:rPr lang="en-US" sz="3200" b="1" dirty="0">
                <a:solidFill>
                  <a:srgbClr val="E8EAF0"/>
                </a:solidFill>
                <a:latin typeface="Cambria" pitchFamily="34" charset="0"/>
                <a:ea typeface="Cambria" pitchFamily="34" charset="-122"/>
                <a:cs typeface="Cambria" pitchFamily="34" charset="-120"/>
              </a:rPr>
              <a:t>Smart table selection — the accuracy fix</a:t>
            </a:r>
            <a:endParaRPr lang="en-US" sz="3200" dirty="0"/>
          </a:p>
        </p:txBody>
      </p:sp>
      <p:sp>
        <p:nvSpPr>
          <p:cNvPr id="3" name="Text 1"/>
          <p:cNvSpPr/>
          <p:nvPr/>
        </p:nvSpPr>
        <p:spPr>
          <a:xfrm>
            <a:off x="731520" y="1188720"/>
            <a:ext cx="10698480" cy="457200"/>
          </a:xfrm>
          <a:prstGeom prst="rect">
            <a:avLst/>
          </a:prstGeom>
          <a:noFill/>
          <a:ln/>
        </p:spPr>
        <p:txBody>
          <a:bodyPr wrap="square" rtlCol="0" anchor="ctr"/>
          <a:lstStyle/>
          <a:p>
            <a:pPr indent="0" marL="0">
              <a:buNone/>
            </a:pPr>
            <a:r>
              <a:rPr lang="en-US" sz="1600" dirty="0">
                <a:solidFill>
                  <a:srgbClr val="9AA0AD"/>
                </a:solidFill>
                <a:latin typeface="Calibri" pitchFamily="34" charset="0"/>
                <a:ea typeface="Calibri" pitchFamily="34" charset="-122"/>
                <a:cs typeface="Calibri" pitchFamily="34" charset="-120"/>
              </a:rPr>
              <a:t>A toggle in the app. It decides how much of the database the AI sees before writing SQL.</a:t>
            </a:r>
            <a:endParaRPr lang="en-US" sz="1600" dirty="0"/>
          </a:p>
        </p:txBody>
      </p:sp>
      <p:sp>
        <p:nvSpPr>
          <p:cNvPr id="4" name="Shape 2"/>
          <p:cNvSpPr/>
          <p:nvPr/>
        </p:nvSpPr>
        <p:spPr>
          <a:xfrm>
            <a:off x="731520" y="1920240"/>
            <a:ext cx="5120640" cy="3840480"/>
          </a:xfrm>
          <a:prstGeom prst="roundRect">
            <a:avLst>
              <a:gd name="adj" fmla="val 2857"/>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5" name="Shape 3"/>
          <p:cNvSpPr/>
          <p:nvPr/>
        </p:nvSpPr>
        <p:spPr>
          <a:xfrm>
            <a:off x="1005840" y="2194560"/>
            <a:ext cx="640080" cy="640080"/>
          </a:xfrm>
          <a:prstGeom prst="ellipse">
            <a:avLst/>
          </a:prstGeom>
          <a:solidFill>
            <a:srgbClr val="B85042"/>
          </a:solidFill>
          <a:ln/>
          <a:effectLst>
            <a:outerShdw sx="100000" sy="100000" kx="0" ky="0" algn="bl" rotWithShape="0" blurRad="101600" dist="38100" dir="54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1172261" y="2360981"/>
            <a:ext cx="307238" cy="307238"/>
          </a:xfrm>
          <a:prstGeom prst="rect">
            <a:avLst/>
          </a:prstGeom>
        </p:spPr>
      </p:pic>
      <p:sp>
        <p:nvSpPr>
          <p:cNvPr id="7" name="Text 4"/>
          <p:cNvSpPr/>
          <p:nvPr/>
        </p:nvSpPr>
        <p:spPr>
          <a:xfrm>
            <a:off x="1828800" y="2286000"/>
            <a:ext cx="3840480" cy="457200"/>
          </a:xfrm>
          <a:prstGeom prst="rect">
            <a:avLst/>
          </a:prstGeom>
          <a:noFill/>
          <a:ln/>
        </p:spPr>
        <p:txBody>
          <a:bodyPr wrap="square" rtlCol="0" anchor="ctr"/>
          <a:lstStyle/>
          <a:p>
            <a:pPr indent="0" marL="0">
              <a:buNone/>
            </a:pPr>
            <a:r>
              <a:rPr lang="en-US" sz="2000" b="1" dirty="0">
                <a:solidFill>
                  <a:srgbClr val="E08A7A"/>
                </a:solidFill>
                <a:latin typeface="Calibri" pitchFamily="34" charset="0"/>
                <a:ea typeface="Calibri" pitchFamily="34" charset="-122"/>
                <a:cs typeface="Calibri" pitchFamily="34" charset="-120"/>
              </a:rPr>
              <a:t>Toggle OFF</a:t>
            </a:r>
            <a:endParaRPr lang="en-US" sz="2000" dirty="0"/>
          </a:p>
        </p:txBody>
      </p:sp>
      <p:sp>
        <p:nvSpPr>
          <p:cNvPr id="8" name="Text 5"/>
          <p:cNvSpPr/>
          <p:nvPr/>
        </p:nvSpPr>
        <p:spPr>
          <a:xfrm>
            <a:off x="1097280" y="3108960"/>
            <a:ext cx="4480560" cy="2377440"/>
          </a:xfrm>
          <a:prstGeom prst="rect">
            <a:avLst/>
          </a:prstGeom>
          <a:noFill/>
          <a:ln/>
        </p:spPr>
        <p:txBody>
          <a:bodyPr wrap="square" rtlCol="0" anchor="ctr"/>
          <a:lstStyle/>
          <a:p>
            <a:pPr marL="342900" indent="-342900">
              <a:spcAft>
                <a:spcPts val="1000"/>
              </a:spcAft>
              <a:buSzPct val="100000"/>
              <a:buChar char="•"/>
            </a:pPr>
            <a:r>
              <a:rPr lang="en-US" sz="1500" dirty="0">
                <a:solidFill>
                  <a:srgbClr val="E8EAF0"/>
                </a:solidFill>
                <a:latin typeface="Calibri" pitchFamily="34" charset="0"/>
                <a:ea typeface="Calibri" pitchFamily="34" charset="-122"/>
                <a:cs typeface="Calibri" pitchFamily="34" charset="-120"/>
              </a:rPr>
              <a:t>AI sees ALL tables at once</a:t>
            </a:r>
            <a:endParaRPr lang="en-US" sz="1500" dirty="0"/>
          </a:p>
          <a:p>
            <a:pPr marL="342900" indent="-342900">
              <a:spcAft>
                <a:spcPts val="1000"/>
              </a:spcAft>
              <a:buSzPct val="100000"/>
              <a:buChar char="•"/>
            </a:pPr>
            <a:r>
              <a:rPr lang="en-US" sz="1500" dirty="0">
                <a:solidFill>
                  <a:srgbClr val="9AA0AD"/>
                </a:solidFill>
                <a:latin typeface="Calibri" pitchFamily="34" charset="0"/>
                <a:ea typeface="Calibri" pitchFamily="34" charset="-122"/>
                <a:cs typeface="Calibri" pitchFamily="34" charset="-120"/>
              </a:rPr>
              <a:t>More columns = more confusion</a:t>
            </a:r>
            <a:endParaRPr lang="en-US" sz="1500" dirty="0"/>
          </a:p>
          <a:p>
            <a:pPr marL="342900" indent="-342900">
              <a:spcAft>
                <a:spcPts val="1000"/>
              </a:spcAft>
              <a:buSzPct val="100000"/>
              <a:buChar char="•"/>
            </a:pPr>
            <a:r>
              <a:rPr lang="en-US" sz="1500" dirty="0">
                <a:solidFill>
                  <a:srgbClr val="9AA0AD"/>
                </a:solidFill>
                <a:latin typeface="Calibri" pitchFamily="34" charset="0"/>
                <a:ea typeface="Calibri" pitchFamily="34" charset="-122"/>
                <a:cs typeface="Calibri" pitchFamily="34" charset="-120"/>
              </a:rPr>
              <a:t>Picks wrong joins, invents columns</a:t>
            </a:r>
            <a:endParaRPr lang="en-US" sz="1500" dirty="0"/>
          </a:p>
          <a:p>
            <a:pPr marL="342900" indent="-342900">
              <a:spcAft>
                <a:spcPts val="1000"/>
              </a:spcAft>
              <a:buSzPct val="100000"/>
              <a:buChar char="•"/>
            </a:pPr>
            <a:r>
              <a:rPr lang="en-US" sz="1500" dirty="0">
                <a:solidFill>
                  <a:srgbClr val="9AA0AD"/>
                </a:solidFill>
                <a:latin typeface="Calibri" pitchFamily="34" charset="0"/>
                <a:ea typeface="Calibri" pitchFamily="34" charset="-122"/>
                <a:cs typeface="Calibri" pitchFamily="34" charset="-120"/>
              </a:rPr>
              <a:t>Accuracy drops as tables grow</a:t>
            </a:r>
            <a:endParaRPr lang="en-US" sz="1500" dirty="0"/>
          </a:p>
        </p:txBody>
      </p:sp>
      <p:sp>
        <p:nvSpPr>
          <p:cNvPr id="9" name="Shape 6"/>
          <p:cNvSpPr/>
          <p:nvPr/>
        </p:nvSpPr>
        <p:spPr>
          <a:xfrm>
            <a:off x="6309360" y="1920240"/>
            <a:ext cx="5120640" cy="3840480"/>
          </a:xfrm>
          <a:prstGeom prst="roundRect">
            <a:avLst>
              <a:gd name="adj" fmla="val 2857"/>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10" name="Shape 7"/>
          <p:cNvSpPr/>
          <p:nvPr/>
        </p:nvSpPr>
        <p:spPr>
          <a:xfrm>
            <a:off x="6583680" y="2194560"/>
            <a:ext cx="640080" cy="64008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6750101" y="2360981"/>
            <a:ext cx="307238" cy="307238"/>
          </a:xfrm>
          <a:prstGeom prst="rect">
            <a:avLst/>
          </a:prstGeom>
        </p:spPr>
      </p:pic>
      <p:sp>
        <p:nvSpPr>
          <p:cNvPr id="12" name="Text 8"/>
          <p:cNvSpPr/>
          <p:nvPr/>
        </p:nvSpPr>
        <p:spPr>
          <a:xfrm>
            <a:off x="7406640" y="2286000"/>
            <a:ext cx="3840480" cy="457200"/>
          </a:xfrm>
          <a:prstGeom prst="rect">
            <a:avLst/>
          </a:prstGeom>
          <a:noFill/>
          <a:ln/>
        </p:spPr>
        <p:txBody>
          <a:bodyPr wrap="square" rtlCol="0" anchor="ctr"/>
          <a:lstStyle/>
          <a:p>
            <a:pPr indent="0" marL="0">
              <a:buNone/>
            </a:pPr>
            <a:r>
              <a:rPr lang="en-US" sz="2000" b="1" dirty="0">
                <a:solidFill>
                  <a:srgbClr val="02C39A"/>
                </a:solidFill>
                <a:latin typeface="Calibri" pitchFamily="34" charset="0"/>
                <a:ea typeface="Calibri" pitchFamily="34" charset="-122"/>
                <a:cs typeface="Calibri" pitchFamily="34" charset="-120"/>
              </a:rPr>
              <a:t>Toggle ON  (default)</a:t>
            </a:r>
            <a:endParaRPr lang="en-US" sz="2000" dirty="0"/>
          </a:p>
        </p:txBody>
      </p:sp>
      <p:sp>
        <p:nvSpPr>
          <p:cNvPr id="13" name="Text 9"/>
          <p:cNvSpPr/>
          <p:nvPr/>
        </p:nvSpPr>
        <p:spPr>
          <a:xfrm>
            <a:off x="6675120" y="3108960"/>
            <a:ext cx="4480560" cy="2377440"/>
          </a:xfrm>
          <a:prstGeom prst="rect">
            <a:avLst/>
          </a:prstGeom>
          <a:noFill/>
          <a:ln/>
        </p:spPr>
        <p:txBody>
          <a:bodyPr wrap="square" rtlCol="0" anchor="ctr"/>
          <a:lstStyle/>
          <a:p>
            <a:pPr marL="342900" indent="-342900">
              <a:spcAft>
                <a:spcPts val="1000"/>
              </a:spcAft>
              <a:buSzPct val="100000"/>
              <a:buChar char="•"/>
            </a:pPr>
            <a:r>
              <a:rPr lang="en-US" sz="1500" dirty="0">
                <a:solidFill>
                  <a:srgbClr val="E8EAF0"/>
                </a:solidFill>
                <a:latin typeface="Calibri" pitchFamily="34" charset="0"/>
                <a:ea typeface="Calibri" pitchFamily="34" charset="-122"/>
                <a:cs typeface="Calibri" pitchFamily="34" charset="-120"/>
              </a:rPr>
              <a:t>AI first picks only relevant tables</a:t>
            </a:r>
            <a:endParaRPr lang="en-US" sz="1500" dirty="0"/>
          </a:p>
          <a:p>
            <a:pPr marL="342900" indent="-342900">
              <a:spcAft>
                <a:spcPts val="1000"/>
              </a:spcAft>
              <a:buSzPct val="100000"/>
              <a:buChar char="•"/>
            </a:pPr>
            <a:r>
              <a:rPr lang="en-US" sz="1500" dirty="0">
                <a:solidFill>
                  <a:srgbClr val="9AA0AD"/>
                </a:solidFill>
                <a:latin typeface="Calibri" pitchFamily="34" charset="0"/>
                <a:ea typeface="Calibri" pitchFamily="34" charset="-122"/>
                <a:cs typeface="Calibri" pitchFamily="34" charset="-120"/>
              </a:rPr>
              <a:t>Writes SQL on a small, clean schema</a:t>
            </a:r>
            <a:endParaRPr lang="en-US" sz="1500" dirty="0"/>
          </a:p>
          <a:p>
            <a:pPr marL="342900" indent="-342900">
              <a:spcAft>
                <a:spcPts val="1000"/>
              </a:spcAft>
              <a:buSzPct val="100000"/>
              <a:buChar char="•"/>
            </a:pPr>
            <a:r>
              <a:rPr lang="en-US" sz="1500" dirty="0">
                <a:solidFill>
                  <a:srgbClr val="9AA0AD"/>
                </a:solidFill>
                <a:latin typeface="Calibri" pitchFamily="34" charset="0"/>
                <a:ea typeface="Calibri" pitchFamily="34" charset="-122"/>
                <a:cs typeface="Calibri" pitchFamily="34" charset="-120"/>
              </a:rPr>
              <a:t>Fewer chances to hallucinate joins</a:t>
            </a:r>
            <a:endParaRPr lang="en-US" sz="1500" dirty="0"/>
          </a:p>
          <a:p>
            <a:pPr marL="342900" indent="-342900">
              <a:spcAft>
                <a:spcPts val="1000"/>
              </a:spcAft>
              <a:buSzPct val="100000"/>
              <a:buChar char="•"/>
            </a:pPr>
            <a:r>
              <a:rPr lang="en-US" sz="1500" dirty="0">
                <a:solidFill>
                  <a:srgbClr val="9AA0AD"/>
                </a:solidFill>
                <a:latin typeface="Calibri" pitchFamily="34" charset="0"/>
                <a:ea typeface="Calibri" pitchFamily="34" charset="-122"/>
                <a:cs typeface="Calibri" pitchFamily="34" charset="-120"/>
              </a:rPr>
              <a:t>Accuracy holds even with 100s of tables</a:t>
            </a:r>
            <a:endParaRPr lang="en-US" sz="1500" dirty="0"/>
          </a:p>
        </p:txBody>
      </p:sp>
      <p:sp>
        <p:nvSpPr>
          <p:cNvPr id="14" name="Text 10"/>
          <p:cNvSpPr/>
          <p:nvPr/>
        </p:nvSpPr>
        <p:spPr>
          <a:xfrm>
            <a:off x="731520" y="5943600"/>
            <a:ext cx="10698480" cy="457200"/>
          </a:xfrm>
          <a:prstGeom prst="rect">
            <a:avLst/>
          </a:prstGeom>
          <a:noFill/>
          <a:ln/>
        </p:spPr>
        <p:txBody>
          <a:bodyPr wrap="square" rtlCol="0" anchor="ctr"/>
          <a:lstStyle/>
          <a:p>
            <a:pPr indent="0" marL="0">
              <a:buNone/>
            </a:pPr>
            <a:r>
              <a:rPr lang="en-US" sz="1400" i="1" dirty="0">
                <a:solidFill>
                  <a:srgbClr val="00A896"/>
                </a:solidFill>
                <a:latin typeface="Calibri" pitchFamily="34" charset="0"/>
                <a:ea typeface="Calibri" pitchFamily="34" charset="-122"/>
                <a:cs typeface="Calibri" pitchFamily="34" charset="-120"/>
              </a:rPr>
              <a:t>This directly answers the statement: accuracy that breaks past 1-2 tables is fixed by narrowing the schema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457200"/>
            <a:ext cx="10698480" cy="640080"/>
          </a:xfrm>
          <a:prstGeom prst="rect">
            <a:avLst/>
          </a:prstGeom>
          <a:noFill/>
          <a:ln/>
        </p:spPr>
        <p:txBody>
          <a:bodyPr wrap="square" rtlCol="0" anchor="ctr"/>
          <a:lstStyle/>
          <a:p>
            <a:pPr indent="0" marL="0">
              <a:buNone/>
            </a:pPr>
            <a:r>
              <a:rPr lang="en-US" sz="3200" b="1" dirty="0">
                <a:solidFill>
                  <a:srgbClr val="E8EAF0"/>
                </a:solidFill>
                <a:latin typeface="Cambria" pitchFamily="34" charset="0"/>
                <a:ea typeface="Cambria" pitchFamily="34" charset="-122"/>
                <a:cs typeface="Cambria" pitchFamily="34" charset="-120"/>
              </a:rPr>
              <a:t>From a question to an answer</a:t>
            </a:r>
            <a:endParaRPr lang="en-US" sz="3200" dirty="0"/>
          </a:p>
        </p:txBody>
      </p:sp>
      <p:sp>
        <p:nvSpPr>
          <p:cNvPr id="3" name="Text 1"/>
          <p:cNvSpPr/>
          <p:nvPr/>
        </p:nvSpPr>
        <p:spPr>
          <a:xfrm>
            <a:off x="731520" y="1143000"/>
            <a:ext cx="10698480" cy="457200"/>
          </a:xfrm>
          <a:prstGeom prst="rect">
            <a:avLst/>
          </a:prstGeom>
          <a:noFill/>
          <a:ln/>
        </p:spPr>
        <p:txBody>
          <a:bodyPr wrap="square" rtlCol="0" anchor="ctr"/>
          <a:lstStyle/>
          <a:p>
            <a:pPr indent="0" marL="0">
              <a:buNone/>
            </a:pPr>
            <a:r>
              <a:rPr lang="en-US" sz="1600" dirty="0">
                <a:solidFill>
                  <a:srgbClr val="9AA0AD"/>
                </a:solidFill>
                <a:latin typeface="Calibri" pitchFamily="34" charset="0"/>
                <a:ea typeface="Calibri" pitchFamily="34" charset="-122"/>
                <a:cs typeface="Calibri" pitchFamily="34" charset="-120"/>
              </a:rPr>
              <a:t>"Which plan has the most enrolled members?" — ClariQuery writes the SQL and visualizes the result.</a:t>
            </a:r>
            <a:endParaRPr lang="en-US" sz="1600" dirty="0"/>
          </a:p>
        </p:txBody>
      </p:sp>
      <p:sp>
        <p:nvSpPr>
          <p:cNvPr id="4" name="Shape 2"/>
          <p:cNvSpPr/>
          <p:nvPr/>
        </p:nvSpPr>
        <p:spPr>
          <a:xfrm>
            <a:off x="731520" y="1828800"/>
            <a:ext cx="5120640" cy="4023360"/>
          </a:xfrm>
          <a:prstGeom prst="roundRect">
            <a:avLst>
              <a:gd name="adj" fmla="val 2727"/>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5" name="Text 3"/>
          <p:cNvSpPr/>
          <p:nvPr/>
        </p:nvSpPr>
        <p:spPr>
          <a:xfrm>
            <a:off x="1005840" y="2011680"/>
            <a:ext cx="4572000" cy="365760"/>
          </a:xfrm>
          <a:prstGeom prst="rect">
            <a:avLst/>
          </a:prstGeom>
          <a:noFill/>
          <a:ln/>
        </p:spPr>
        <p:txBody>
          <a:bodyPr wrap="square"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Generated SQL</a:t>
            </a:r>
            <a:endParaRPr lang="en-US" sz="1400" dirty="0"/>
          </a:p>
        </p:txBody>
      </p:sp>
      <p:sp>
        <p:nvSpPr>
          <p:cNvPr id="6" name="Text 4"/>
          <p:cNvSpPr/>
          <p:nvPr/>
        </p:nvSpPr>
        <p:spPr>
          <a:xfrm>
            <a:off x="1005840" y="2423160"/>
            <a:ext cx="4572000" cy="2011680"/>
          </a:xfrm>
          <a:prstGeom prst="rect">
            <a:avLst/>
          </a:prstGeom>
          <a:noFill/>
          <a:ln/>
        </p:spPr>
        <p:txBody>
          <a:bodyPr wrap="square" rtlCol="0" anchor="ctr"/>
          <a:lstStyle/>
          <a:p>
            <a:pPr indent="0" marL="0">
              <a:buNone/>
            </a:pPr>
            <a:r>
              <a:rPr lang="en-US" sz="1400" dirty="0">
                <a:solidFill>
                  <a:srgbClr val="E8EAF0"/>
                </a:solidFill>
                <a:latin typeface="Courier New" pitchFamily="34" charset="0"/>
                <a:ea typeface="Courier New" pitchFamily="34" charset="-122"/>
                <a:cs typeface="Courier New" pitchFamily="34" charset="-120"/>
              </a:rPr>
              <a:t>SELECT plan_name,</a:t>
            </a:r>
            <a:endParaRPr lang="en-US" sz="1400" dirty="0"/>
          </a:p>
          <a:p>
            <a:pPr indent="0" marL="0">
              <a:buNone/>
            </a:pPr>
            <a:r>
              <a:rPr lang="en-US" sz="1400" dirty="0">
                <a:solidFill>
                  <a:srgbClr val="E8EAF0"/>
                </a:solidFill>
                <a:latin typeface="Courier New" pitchFamily="34" charset="0"/>
                <a:ea typeface="Courier New" pitchFamily="34" charset="-122"/>
                <a:cs typeface="Courier New" pitchFamily="34" charset="-120"/>
              </a:rPr>
              <a:t>       COUNT(DISTINCT member_id)</a:t>
            </a:r>
            <a:endParaRPr lang="en-US" sz="1400" dirty="0"/>
          </a:p>
          <a:p>
            <a:pPr indent="0" marL="0">
              <a:buNone/>
            </a:pPr>
            <a:r>
              <a:rPr lang="en-US" sz="1400" dirty="0">
                <a:solidFill>
                  <a:srgbClr val="E8EAF0"/>
                </a:solidFill>
                <a:latin typeface="Courier New" pitchFamily="34" charset="0"/>
                <a:ea typeface="Courier New" pitchFamily="34" charset="-122"/>
                <a:cs typeface="Courier New" pitchFamily="34" charset="-120"/>
              </a:rPr>
              <a:t>         AS members</a:t>
            </a:r>
            <a:endParaRPr lang="en-US" sz="1400" dirty="0"/>
          </a:p>
          <a:p>
            <a:pPr indent="0" marL="0">
              <a:buNone/>
            </a:pPr>
            <a:r>
              <a:rPr lang="en-US" sz="1400" dirty="0">
                <a:solidFill>
                  <a:srgbClr val="E8EAF0"/>
                </a:solidFill>
                <a:latin typeface="Courier New" pitchFamily="34" charset="0"/>
                <a:ea typeface="Courier New" pitchFamily="34" charset="-122"/>
                <a:cs typeface="Courier New" pitchFamily="34" charset="-120"/>
              </a:rPr>
              <a:t>FROM enrollments</a:t>
            </a:r>
            <a:endParaRPr lang="en-US" sz="1400" dirty="0"/>
          </a:p>
          <a:p>
            <a:pPr indent="0" marL="0">
              <a:buNone/>
            </a:pPr>
            <a:r>
              <a:rPr lang="en-US" sz="1400" dirty="0">
                <a:solidFill>
                  <a:srgbClr val="E8EAF0"/>
                </a:solidFill>
                <a:latin typeface="Courier New" pitchFamily="34" charset="0"/>
                <a:ea typeface="Courier New" pitchFamily="34" charset="-122"/>
                <a:cs typeface="Courier New" pitchFamily="34" charset="-120"/>
              </a:rPr>
              <a:t>GROUP BY plan_name</a:t>
            </a:r>
            <a:endParaRPr lang="en-US" sz="1400" dirty="0"/>
          </a:p>
          <a:p>
            <a:pPr indent="0" marL="0">
              <a:buNone/>
            </a:pPr>
            <a:r>
              <a:rPr lang="en-US" sz="1400" dirty="0">
                <a:solidFill>
                  <a:srgbClr val="E8EAF0"/>
                </a:solidFill>
                <a:latin typeface="Courier New" pitchFamily="34" charset="0"/>
                <a:ea typeface="Courier New" pitchFamily="34" charset="-122"/>
                <a:cs typeface="Courier New" pitchFamily="34" charset="-120"/>
              </a:rPr>
              <a:t>ORDER BY members DESC;</a:t>
            </a:r>
            <a:endParaRPr lang="en-US" sz="1400" dirty="0"/>
          </a:p>
        </p:txBody>
      </p:sp>
      <p:sp>
        <p:nvSpPr>
          <p:cNvPr id="7" name="Text 5"/>
          <p:cNvSpPr/>
          <p:nvPr/>
        </p:nvSpPr>
        <p:spPr>
          <a:xfrm>
            <a:off x="1005840" y="4572000"/>
            <a:ext cx="4572000" cy="365760"/>
          </a:xfrm>
          <a:prstGeom prst="rect">
            <a:avLst/>
          </a:prstGeom>
          <a:noFill/>
          <a:ln/>
        </p:spPr>
        <p:txBody>
          <a:bodyPr wrap="square"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Grounded answer</a:t>
            </a:r>
            <a:endParaRPr lang="en-US" sz="1400" dirty="0"/>
          </a:p>
        </p:txBody>
      </p:sp>
      <p:sp>
        <p:nvSpPr>
          <p:cNvPr id="8" name="Text 6"/>
          <p:cNvSpPr/>
          <p:nvPr/>
        </p:nvSpPr>
        <p:spPr>
          <a:xfrm>
            <a:off x="1005840" y="4937760"/>
            <a:ext cx="4572000" cy="731520"/>
          </a:xfrm>
          <a:prstGeom prst="rect">
            <a:avLst/>
          </a:prstGeom>
          <a:noFill/>
          <a:ln/>
        </p:spPr>
        <p:txBody>
          <a:bodyPr wrap="square" rtlCol="0" anchor="ctr"/>
          <a:lstStyle/>
          <a:p>
            <a:pPr indent="0" marL="0">
              <a:buNone/>
            </a:pPr>
            <a:r>
              <a:rPr lang="en-US" sz="1500" dirty="0">
                <a:solidFill>
                  <a:srgbClr val="E8EAF0"/>
                </a:solidFill>
                <a:latin typeface="Calibri" pitchFamily="34" charset="0"/>
                <a:ea typeface="Calibri" pitchFamily="34" charset="-122"/>
                <a:cs typeface="Calibri" pitchFamily="34" charset="-120"/>
              </a:rPr>
              <a:t>Silver HMO has the most enrolled members, with 733.</a:t>
            </a:r>
            <a:endParaRPr lang="en-US" sz="1500" dirty="0"/>
          </a:p>
        </p:txBody>
      </p:sp>
      <p:graphicFrame>
        <p:nvGraphicFramePr>
          <p:cNvPr id="9" name="Chart 0" descr=""/>
          <p:cNvGraphicFramePr/>
          <p:nvPr/>
        </p:nvGraphicFramePr>
        <p:xfrm>
          <a:off x="6126480" y="2011680"/>
          <a:ext cx="5303520" cy="36576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365760"/>
            <a:ext cx="10698480" cy="640080"/>
          </a:xfrm>
          <a:prstGeom prst="rect">
            <a:avLst/>
          </a:prstGeom>
          <a:noFill/>
          <a:ln/>
        </p:spPr>
        <p:txBody>
          <a:bodyPr wrap="square" rtlCol="0" anchor="ctr"/>
          <a:lstStyle/>
          <a:p>
            <a:pPr indent="0" marL="0">
              <a:buNone/>
            </a:pPr>
            <a:r>
              <a:rPr lang="en-US" sz="3000" b="1" dirty="0">
                <a:solidFill>
                  <a:srgbClr val="E8EAF0"/>
                </a:solidFill>
                <a:latin typeface="Cambria" pitchFamily="34" charset="0"/>
                <a:ea typeface="Cambria" pitchFamily="34" charset="-122"/>
                <a:cs typeface="Cambria" pitchFamily="34" charset="-120"/>
              </a:rPr>
              <a:t>Demo · accuracy across tables</a:t>
            </a:r>
            <a:endParaRPr lang="en-US" sz="3000" dirty="0"/>
          </a:p>
        </p:txBody>
      </p:sp>
      <p:sp>
        <p:nvSpPr>
          <p:cNvPr id="3" name="Text 1"/>
          <p:cNvSpPr/>
          <p:nvPr/>
        </p:nvSpPr>
        <p:spPr>
          <a:xfrm>
            <a:off x="731520" y="1005840"/>
            <a:ext cx="10698480" cy="457200"/>
          </a:xfrm>
          <a:prstGeom prst="rect">
            <a:avLst/>
          </a:prstGeom>
          <a:noFill/>
          <a:ln/>
        </p:spPr>
        <p:txBody>
          <a:bodyPr wrap="square" rtlCol="0" anchor="ctr"/>
          <a:lstStyle/>
          <a:p>
            <a:pPr indent="0" marL="0">
              <a:buNone/>
            </a:pPr>
            <a:r>
              <a:rPr lang="en-US" sz="1500" dirty="0">
                <a:solidFill>
                  <a:srgbClr val="9AA0AD"/>
                </a:solidFill>
                <a:latin typeface="Calibri" pitchFamily="34" charset="0"/>
                <a:ea typeface="Calibri" pitchFamily="34" charset="-122"/>
                <a:cs typeface="Calibri" pitchFamily="34" charset="-120"/>
              </a:rPr>
              <a:t>"List the top 5 members by total paid claim amount and their plan name" — a 3-table join.</a:t>
            </a:r>
            <a:endParaRPr lang="en-US" sz="1500" dirty="0"/>
          </a:p>
        </p:txBody>
      </p:sp>
      <p:pic>
        <p:nvPicPr>
          <p:cNvPr id="4" name="Image 0" descr="/home/claude/buildathon/shots/shot1.png">    </p:cNvPr>
          <p:cNvPicPr>
            <a:picLocks noChangeAspect="1"/>
          </p:cNvPicPr>
          <p:nvPr/>
        </p:nvPicPr>
        <p:blipFill>
          <a:blip r:embed="rId1"/>
          <a:stretch>
            <a:fillRect/>
          </a:stretch>
        </p:blipFill>
        <p:spPr>
          <a:xfrm>
            <a:off x="1641412" y="1554480"/>
            <a:ext cx="8878695" cy="4937760"/>
          </a:xfrm>
          <a:prstGeom prst="rect">
            <a:avLst/>
          </a:prstGeom>
          <a:effectLst>
            <a:outerShdw sx="100000" sy="100000" kx="0" ky="0" algn="bl" rotWithShape="0" blurRad="127000" dist="38100" dir="5400000">
              <a:srgbClr val="000000">
                <a:alpha val="3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365760"/>
            <a:ext cx="10698480" cy="640080"/>
          </a:xfrm>
          <a:prstGeom prst="rect">
            <a:avLst/>
          </a:prstGeom>
          <a:noFill/>
          <a:ln/>
        </p:spPr>
        <p:txBody>
          <a:bodyPr wrap="square" rtlCol="0" anchor="ctr"/>
          <a:lstStyle/>
          <a:p>
            <a:pPr indent="0" marL="0">
              <a:buNone/>
            </a:pPr>
            <a:r>
              <a:rPr lang="en-US" sz="3000" b="1" dirty="0">
                <a:solidFill>
                  <a:srgbClr val="E8EAF0"/>
                </a:solidFill>
                <a:latin typeface="Cambria" pitchFamily="34" charset="0"/>
                <a:ea typeface="Cambria" pitchFamily="34" charset="-122"/>
                <a:cs typeface="Cambria" pitchFamily="34" charset="-120"/>
              </a:rPr>
              <a:t>Demo · grounded answer</a:t>
            </a:r>
            <a:endParaRPr lang="en-US" sz="3000" dirty="0"/>
          </a:p>
        </p:txBody>
      </p:sp>
      <p:sp>
        <p:nvSpPr>
          <p:cNvPr id="3" name="Text 1"/>
          <p:cNvSpPr/>
          <p:nvPr/>
        </p:nvSpPr>
        <p:spPr>
          <a:xfrm>
            <a:off x="731520" y="1005840"/>
            <a:ext cx="10698480" cy="457200"/>
          </a:xfrm>
          <a:prstGeom prst="rect">
            <a:avLst/>
          </a:prstGeom>
          <a:noFill/>
          <a:ln/>
        </p:spPr>
        <p:txBody>
          <a:bodyPr wrap="square" rtlCol="0" anchor="ctr"/>
          <a:lstStyle/>
          <a:p>
            <a:pPr indent="0" marL="0">
              <a:buNone/>
            </a:pPr>
            <a:r>
              <a:rPr lang="en-US" sz="1500" dirty="0">
                <a:solidFill>
                  <a:srgbClr val="9AA0AD"/>
                </a:solidFill>
                <a:latin typeface="Calibri" pitchFamily="34" charset="0"/>
                <a:ea typeface="Calibri" pitchFamily="34" charset="-122"/>
                <a:cs typeface="Calibri" pitchFamily="34" charset="-120"/>
              </a:rPr>
              <a:t>The answer cites real values from the query result — nothing invented.</a:t>
            </a:r>
            <a:endParaRPr lang="en-US" sz="1500" dirty="0"/>
          </a:p>
        </p:txBody>
      </p:sp>
      <p:pic>
        <p:nvPicPr>
          <p:cNvPr id="4" name="Image 0" descr="/home/claude/buildathon/shots/shot2.png">    </p:cNvPr>
          <p:cNvPicPr>
            <a:picLocks noChangeAspect="1"/>
          </p:cNvPicPr>
          <p:nvPr/>
        </p:nvPicPr>
        <p:blipFill>
          <a:blip r:embed="rId1"/>
          <a:stretch>
            <a:fillRect/>
          </a:stretch>
        </p:blipFill>
        <p:spPr>
          <a:xfrm>
            <a:off x="731520" y="1794277"/>
            <a:ext cx="10698480" cy="4458166"/>
          </a:xfrm>
          <a:prstGeom prst="rect">
            <a:avLst/>
          </a:prstGeom>
          <a:effectLst>
            <a:outerShdw sx="100000" sy="100000" kx="0" ky="0" algn="bl" rotWithShape="0" blurRad="127000" dist="38100" dir="5400000">
              <a:srgbClr val="000000">
                <a:alpha val="3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365760"/>
            <a:ext cx="10698480" cy="640080"/>
          </a:xfrm>
          <a:prstGeom prst="rect">
            <a:avLst/>
          </a:prstGeom>
          <a:noFill/>
          <a:ln/>
        </p:spPr>
        <p:txBody>
          <a:bodyPr wrap="square" rtlCol="0" anchor="ctr"/>
          <a:lstStyle/>
          <a:p>
            <a:pPr indent="0" marL="0">
              <a:buNone/>
            </a:pPr>
            <a:r>
              <a:rPr lang="en-US" sz="3000" b="1" dirty="0">
                <a:solidFill>
                  <a:srgbClr val="E8EAF0"/>
                </a:solidFill>
                <a:latin typeface="Cambria" pitchFamily="34" charset="0"/>
                <a:ea typeface="Cambria" pitchFamily="34" charset="-122"/>
                <a:cs typeface="Cambria" pitchFamily="34" charset="-120"/>
              </a:rPr>
              <a:t>Demo · built-in visualization</a:t>
            </a:r>
            <a:endParaRPr lang="en-US" sz="3000" dirty="0"/>
          </a:p>
        </p:txBody>
      </p:sp>
      <p:sp>
        <p:nvSpPr>
          <p:cNvPr id="3" name="Text 1"/>
          <p:cNvSpPr/>
          <p:nvPr/>
        </p:nvSpPr>
        <p:spPr>
          <a:xfrm>
            <a:off x="731520" y="1005840"/>
            <a:ext cx="10698480" cy="457200"/>
          </a:xfrm>
          <a:prstGeom prst="rect">
            <a:avLst/>
          </a:prstGeom>
          <a:noFill/>
          <a:ln/>
        </p:spPr>
        <p:txBody>
          <a:bodyPr wrap="square" rtlCol="0" anchor="ctr"/>
          <a:lstStyle/>
          <a:p>
            <a:pPr indent="0" marL="0">
              <a:buNone/>
            </a:pPr>
            <a:r>
              <a:rPr lang="en-US" sz="1500" dirty="0">
                <a:solidFill>
                  <a:srgbClr val="9AA0AD"/>
                </a:solidFill>
                <a:latin typeface="Calibri" pitchFamily="34" charset="0"/>
                <a:ea typeface="Calibri" pitchFamily="34" charset="-122"/>
                <a:cs typeface="Calibri" pitchFamily="34" charset="-120"/>
              </a:rPr>
              <a:t>Any result can be charted — bar, line, area, pie — from a dropdown.</a:t>
            </a:r>
            <a:endParaRPr lang="en-US" sz="1500" dirty="0"/>
          </a:p>
        </p:txBody>
      </p:sp>
      <p:pic>
        <p:nvPicPr>
          <p:cNvPr id="4" name="Image 0" descr="/home/claude/buildathon/shots/shot3.png">    </p:cNvPr>
          <p:cNvPicPr>
            <a:picLocks noChangeAspect="1"/>
          </p:cNvPicPr>
          <p:nvPr/>
        </p:nvPicPr>
        <p:blipFill>
          <a:blip r:embed="rId1"/>
          <a:stretch>
            <a:fillRect/>
          </a:stretch>
        </p:blipFill>
        <p:spPr>
          <a:xfrm>
            <a:off x="1359612" y="1554480"/>
            <a:ext cx="9442297" cy="4937760"/>
          </a:xfrm>
          <a:prstGeom prst="rect">
            <a:avLst/>
          </a:prstGeom>
          <a:effectLst>
            <a:outerShdw sx="100000" sy="100000" kx="0" ky="0" algn="bl" rotWithShape="0" blurRad="127000" dist="38100" dir="5400000">
              <a:srgbClr val="000000">
                <a:alpha val="3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365760"/>
            <a:ext cx="10698480" cy="640080"/>
          </a:xfrm>
          <a:prstGeom prst="rect">
            <a:avLst/>
          </a:prstGeom>
          <a:noFill/>
          <a:ln/>
        </p:spPr>
        <p:txBody>
          <a:bodyPr wrap="square" rtlCol="0" anchor="ctr"/>
          <a:lstStyle/>
          <a:p>
            <a:pPr indent="0" marL="0">
              <a:buNone/>
            </a:pPr>
            <a:r>
              <a:rPr lang="en-US" sz="3000" b="1" dirty="0">
                <a:solidFill>
                  <a:srgbClr val="E8EAF0"/>
                </a:solidFill>
                <a:latin typeface="Cambria" pitchFamily="34" charset="0"/>
                <a:ea typeface="Cambria" pitchFamily="34" charset="-122"/>
                <a:cs typeface="Cambria" pitchFamily="34" charset="-120"/>
              </a:rPr>
              <a:t>Demo · no hallucination</a:t>
            </a:r>
            <a:endParaRPr lang="en-US" sz="3000" dirty="0"/>
          </a:p>
        </p:txBody>
      </p:sp>
      <p:sp>
        <p:nvSpPr>
          <p:cNvPr id="3" name="Text 1"/>
          <p:cNvSpPr/>
          <p:nvPr/>
        </p:nvSpPr>
        <p:spPr>
          <a:xfrm>
            <a:off x="731520" y="1005840"/>
            <a:ext cx="10698480" cy="457200"/>
          </a:xfrm>
          <a:prstGeom prst="rect">
            <a:avLst/>
          </a:prstGeom>
          <a:noFill/>
          <a:ln/>
        </p:spPr>
        <p:txBody>
          <a:bodyPr wrap="square" rtlCol="0" anchor="ctr"/>
          <a:lstStyle/>
          <a:p>
            <a:pPr indent="0" marL="0">
              <a:buNone/>
            </a:pPr>
            <a:r>
              <a:rPr lang="en-US" sz="1500" dirty="0">
                <a:solidFill>
                  <a:srgbClr val="9AA0AD"/>
                </a:solidFill>
                <a:latin typeface="Calibri" pitchFamily="34" charset="0"/>
                <a:ea typeface="Calibri" pitchFamily="34" charset="-122"/>
                <a:cs typeface="Calibri" pitchFamily="34" charset="-120"/>
              </a:rPr>
              <a:t>Ask for data that doesn't exist — "satisfaction score" — and it refuses to guess.</a:t>
            </a:r>
            <a:endParaRPr lang="en-US" sz="1500" dirty="0"/>
          </a:p>
        </p:txBody>
      </p:sp>
      <p:pic>
        <p:nvPicPr>
          <p:cNvPr id="4" name="Image 0" descr="/home/claude/buildathon/shots/shot4.png">    </p:cNvPr>
          <p:cNvPicPr>
            <a:picLocks noChangeAspect="1"/>
          </p:cNvPicPr>
          <p:nvPr/>
        </p:nvPicPr>
        <p:blipFill>
          <a:blip r:embed="rId1"/>
          <a:stretch>
            <a:fillRect/>
          </a:stretch>
        </p:blipFill>
        <p:spPr>
          <a:xfrm>
            <a:off x="1360261" y="1554480"/>
            <a:ext cx="9440997" cy="4937760"/>
          </a:xfrm>
          <a:prstGeom prst="rect">
            <a:avLst/>
          </a:prstGeom>
          <a:effectLst>
            <a:outerShdw sx="100000" sy="100000" kx="0" ky="0" algn="bl" rotWithShape="0" blurRad="127000" dist="38100" dir="5400000">
              <a:srgbClr val="000000">
                <a:alpha val="3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365760"/>
            <a:ext cx="10698480" cy="640080"/>
          </a:xfrm>
          <a:prstGeom prst="rect">
            <a:avLst/>
          </a:prstGeom>
          <a:noFill/>
          <a:ln/>
        </p:spPr>
        <p:txBody>
          <a:bodyPr wrap="square" rtlCol="0" anchor="ctr"/>
          <a:lstStyle/>
          <a:p>
            <a:pPr indent="0" marL="0">
              <a:buNone/>
            </a:pPr>
            <a:r>
              <a:rPr lang="en-US" sz="3000" b="1" dirty="0">
                <a:solidFill>
                  <a:srgbClr val="E8EAF0"/>
                </a:solidFill>
                <a:latin typeface="Cambria" pitchFamily="34" charset="0"/>
                <a:ea typeface="Cambria" pitchFamily="34" charset="-122"/>
                <a:cs typeface="Cambria" pitchFamily="34" charset="-120"/>
              </a:rPr>
              <a:t>Demo · privacy by design</a:t>
            </a:r>
            <a:endParaRPr lang="en-US" sz="3000" dirty="0"/>
          </a:p>
        </p:txBody>
      </p:sp>
      <p:sp>
        <p:nvSpPr>
          <p:cNvPr id="3" name="Text 1"/>
          <p:cNvSpPr/>
          <p:nvPr/>
        </p:nvSpPr>
        <p:spPr>
          <a:xfrm>
            <a:off x="731520" y="1005840"/>
            <a:ext cx="10698480" cy="457200"/>
          </a:xfrm>
          <a:prstGeom prst="rect">
            <a:avLst/>
          </a:prstGeom>
          <a:noFill/>
          <a:ln/>
        </p:spPr>
        <p:txBody>
          <a:bodyPr wrap="square" rtlCol="0" anchor="ctr"/>
          <a:lstStyle/>
          <a:p>
            <a:pPr indent="0" marL="0">
              <a:buNone/>
            </a:pPr>
            <a:r>
              <a:rPr lang="en-US" sz="1500" dirty="0">
                <a:solidFill>
                  <a:srgbClr val="9AA0AD"/>
                </a:solidFill>
                <a:latin typeface="Calibri" pitchFamily="34" charset="0"/>
                <a:ea typeface="Calibri" pitchFamily="34" charset="-122"/>
                <a:cs typeface="Calibri" pitchFamily="34" charset="-120"/>
              </a:rPr>
              <a:t>Each role sees only what it's allowed to — sensitive columns are removed before the AI sees them.</a:t>
            </a:r>
            <a:endParaRPr lang="en-US" sz="1500" dirty="0"/>
          </a:p>
        </p:txBody>
      </p:sp>
      <p:pic>
        <p:nvPicPr>
          <p:cNvPr id="4" name="Image 0" descr="/home/claude/buildathon/shots/shot5.png">    </p:cNvPr>
          <p:cNvPicPr>
            <a:picLocks noChangeAspect="1"/>
          </p:cNvPicPr>
          <p:nvPr/>
        </p:nvPicPr>
        <p:blipFill>
          <a:blip r:embed="rId1"/>
          <a:stretch>
            <a:fillRect/>
          </a:stretch>
        </p:blipFill>
        <p:spPr>
          <a:xfrm>
            <a:off x="1137846" y="1554480"/>
            <a:ext cx="9885828" cy="4937760"/>
          </a:xfrm>
          <a:prstGeom prst="rect">
            <a:avLst/>
          </a:prstGeom>
          <a:effectLst>
            <a:outerShdw sx="100000" sy="100000" kx="0" ky="0" algn="bl" rotWithShape="0" blurRad="127000" dist="38100" dir="5400000">
              <a:srgbClr val="000000">
                <a:alpha val="3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indent="0" marL="0">
              <a:buNone/>
            </a:pPr>
            <a:r>
              <a:rPr lang="en-US" sz="3600" b="1" dirty="0">
                <a:solidFill>
                  <a:srgbClr val="E8EAF0"/>
                </a:solidFill>
                <a:latin typeface="Cambria" pitchFamily="34" charset="0"/>
                <a:ea typeface="Cambria" pitchFamily="34" charset="-122"/>
                <a:cs typeface="Cambria" pitchFamily="34" charset="-120"/>
              </a:rPr>
              <a:t>Under the hood</a:t>
            </a:r>
            <a:endParaRPr lang="en-US" sz="3600" dirty="0"/>
          </a:p>
        </p:txBody>
      </p:sp>
      <p:sp>
        <p:nvSpPr>
          <p:cNvPr id="3" name="Shape 1"/>
          <p:cNvSpPr/>
          <p:nvPr/>
        </p:nvSpPr>
        <p:spPr>
          <a:xfrm>
            <a:off x="731520" y="1554480"/>
            <a:ext cx="10698480" cy="1280160"/>
          </a:xfrm>
          <a:prstGeom prst="roundRect">
            <a:avLst>
              <a:gd name="adj" fmla="val 8571"/>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4" name="Shape 2"/>
          <p:cNvSpPr/>
          <p:nvPr/>
        </p:nvSpPr>
        <p:spPr>
          <a:xfrm>
            <a:off x="1005840" y="1847088"/>
            <a:ext cx="685800" cy="68580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5" name="Image 0" descr="preencoded.png">    </p:cNvPr>
          <p:cNvPicPr>
            <a:picLocks noChangeAspect="1"/>
          </p:cNvPicPr>
          <p:nvPr/>
        </p:nvPicPr>
        <p:blipFill>
          <a:blip r:embed="rId1"/>
          <a:stretch>
            <a:fillRect/>
          </a:stretch>
        </p:blipFill>
        <p:spPr>
          <a:xfrm>
            <a:off x="1184148" y="2025396"/>
            <a:ext cx="329184" cy="329184"/>
          </a:xfrm>
          <a:prstGeom prst="rect">
            <a:avLst/>
          </a:prstGeom>
        </p:spPr>
      </p:pic>
      <p:sp>
        <p:nvSpPr>
          <p:cNvPr id="6" name="Text 3"/>
          <p:cNvSpPr/>
          <p:nvPr/>
        </p:nvSpPr>
        <p:spPr>
          <a:xfrm>
            <a:off x="1965960" y="1719072"/>
            <a:ext cx="8961120" cy="411480"/>
          </a:xfrm>
          <a:prstGeom prst="rect">
            <a:avLst/>
          </a:prstGeom>
          <a:noFill/>
          <a:ln/>
        </p:spPr>
        <p:txBody>
          <a:bodyPr wrap="square" rtlCol="0" anchor="ctr"/>
          <a:lstStyle/>
          <a:p>
            <a:pPr indent="0" marL="0">
              <a:buNone/>
            </a:pPr>
            <a:r>
              <a:rPr lang="en-US" sz="1900" b="1" dirty="0">
                <a:solidFill>
                  <a:srgbClr val="02C39A"/>
                </a:solidFill>
                <a:latin typeface="Calibri" pitchFamily="34" charset="0"/>
                <a:ea typeface="Calibri" pitchFamily="34" charset="-122"/>
                <a:cs typeface="Calibri" pitchFamily="34" charset="-120"/>
              </a:rPr>
              <a:t>Schema linking</a:t>
            </a:r>
            <a:endParaRPr lang="en-US" sz="1900" dirty="0"/>
          </a:p>
        </p:txBody>
      </p:sp>
      <p:sp>
        <p:nvSpPr>
          <p:cNvPr id="7" name="Text 4"/>
          <p:cNvSpPr/>
          <p:nvPr/>
        </p:nvSpPr>
        <p:spPr>
          <a:xfrm>
            <a:off x="1965960" y="2121408"/>
            <a:ext cx="9144000" cy="640080"/>
          </a:xfrm>
          <a:prstGeom prst="rect">
            <a:avLst/>
          </a:prstGeom>
          <a:noFill/>
          <a:ln/>
        </p:spPr>
        <p:txBody>
          <a:bodyPr wrap="square" rtlCol="0" anchor="ctr"/>
          <a:lstStyle/>
          <a:p>
            <a:pPr indent="0" marL="0">
              <a:buNone/>
            </a:pPr>
            <a:r>
              <a:rPr lang="en-US" sz="1350" dirty="0">
                <a:solidFill>
                  <a:srgbClr val="9AA0AD"/>
                </a:solidFill>
                <a:latin typeface="Calibri" pitchFamily="34" charset="0"/>
                <a:ea typeface="Calibri" pitchFamily="34" charset="-122"/>
                <a:cs typeface="Calibri" pitchFamily="34" charset="-120"/>
              </a:rPr>
              <a:t>Before any SQL, the model is asked which tables a question needs. Only those tables, their real column names, and sample values are passed forward.</a:t>
            </a:r>
            <a:endParaRPr lang="en-US" sz="1350" dirty="0"/>
          </a:p>
        </p:txBody>
      </p:sp>
      <p:sp>
        <p:nvSpPr>
          <p:cNvPr id="8" name="Shape 5"/>
          <p:cNvSpPr/>
          <p:nvPr/>
        </p:nvSpPr>
        <p:spPr>
          <a:xfrm>
            <a:off x="731520" y="3017520"/>
            <a:ext cx="10698480" cy="1280160"/>
          </a:xfrm>
          <a:prstGeom prst="roundRect">
            <a:avLst>
              <a:gd name="adj" fmla="val 8571"/>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9" name="Shape 6"/>
          <p:cNvSpPr/>
          <p:nvPr/>
        </p:nvSpPr>
        <p:spPr>
          <a:xfrm>
            <a:off x="1005840" y="3310128"/>
            <a:ext cx="685800" cy="68580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1184148" y="3488436"/>
            <a:ext cx="329184" cy="329184"/>
          </a:xfrm>
          <a:prstGeom prst="rect">
            <a:avLst/>
          </a:prstGeom>
        </p:spPr>
      </p:pic>
      <p:sp>
        <p:nvSpPr>
          <p:cNvPr id="11" name="Text 7"/>
          <p:cNvSpPr/>
          <p:nvPr/>
        </p:nvSpPr>
        <p:spPr>
          <a:xfrm>
            <a:off x="1965960" y="3182112"/>
            <a:ext cx="8961120" cy="411480"/>
          </a:xfrm>
          <a:prstGeom prst="rect">
            <a:avLst/>
          </a:prstGeom>
          <a:noFill/>
          <a:ln/>
        </p:spPr>
        <p:txBody>
          <a:bodyPr wrap="square" rtlCol="0" anchor="ctr"/>
          <a:lstStyle/>
          <a:p>
            <a:pPr indent="0" marL="0">
              <a:buNone/>
            </a:pPr>
            <a:r>
              <a:rPr lang="en-US" sz="1900" b="1" dirty="0">
                <a:solidFill>
                  <a:srgbClr val="02C39A"/>
                </a:solidFill>
                <a:latin typeface="Calibri" pitchFamily="34" charset="0"/>
                <a:ea typeface="Calibri" pitchFamily="34" charset="-122"/>
                <a:cs typeface="Calibri" pitchFamily="34" charset="-120"/>
              </a:rPr>
              <a:t>Access control</a:t>
            </a:r>
            <a:endParaRPr lang="en-US" sz="1900" dirty="0"/>
          </a:p>
        </p:txBody>
      </p:sp>
      <p:sp>
        <p:nvSpPr>
          <p:cNvPr id="12" name="Text 8"/>
          <p:cNvSpPr/>
          <p:nvPr/>
        </p:nvSpPr>
        <p:spPr>
          <a:xfrm>
            <a:off x="1965960" y="3584448"/>
            <a:ext cx="9144000" cy="640080"/>
          </a:xfrm>
          <a:prstGeom prst="rect">
            <a:avLst/>
          </a:prstGeom>
          <a:noFill/>
          <a:ln/>
        </p:spPr>
        <p:txBody>
          <a:bodyPr wrap="square" rtlCol="0" anchor="ctr"/>
          <a:lstStyle/>
          <a:p>
            <a:pPr indent="0" marL="0">
              <a:buNone/>
            </a:pPr>
            <a:r>
              <a:rPr lang="en-US" sz="1350" dirty="0">
                <a:solidFill>
                  <a:srgbClr val="9AA0AD"/>
                </a:solidFill>
                <a:latin typeface="Calibri" pitchFamily="34" charset="0"/>
                <a:ea typeface="Calibri" pitchFamily="34" charset="-122"/>
                <a:cs typeface="Calibri" pitchFamily="34" charset="-120"/>
              </a:rPr>
              <a:t>Sensitive columns are removed from the schema by role before generation — the model never receives PHI it isn't allowed to use.</a:t>
            </a:r>
            <a:endParaRPr lang="en-US" sz="1350" dirty="0"/>
          </a:p>
        </p:txBody>
      </p:sp>
      <p:sp>
        <p:nvSpPr>
          <p:cNvPr id="13" name="Shape 9"/>
          <p:cNvSpPr/>
          <p:nvPr/>
        </p:nvSpPr>
        <p:spPr>
          <a:xfrm>
            <a:off x="731520" y="4480560"/>
            <a:ext cx="10698480" cy="1280160"/>
          </a:xfrm>
          <a:prstGeom prst="roundRect">
            <a:avLst>
              <a:gd name="adj" fmla="val 8571"/>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14" name="Shape 10"/>
          <p:cNvSpPr/>
          <p:nvPr/>
        </p:nvSpPr>
        <p:spPr>
          <a:xfrm>
            <a:off x="1005840" y="4773168"/>
            <a:ext cx="685800" cy="68580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5" name="Image 2" descr="preencoded.png">    </p:cNvPr>
          <p:cNvPicPr>
            <a:picLocks noChangeAspect="1"/>
          </p:cNvPicPr>
          <p:nvPr/>
        </p:nvPicPr>
        <p:blipFill>
          <a:blip r:embed="rId3"/>
          <a:stretch>
            <a:fillRect/>
          </a:stretch>
        </p:blipFill>
        <p:spPr>
          <a:xfrm>
            <a:off x="1184148" y="4951476"/>
            <a:ext cx="329184" cy="329184"/>
          </a:xfrm>
          <a:prstGeom prst="rect">
            <a:avLst/>
          </a:prstGeom>
        </p:spPr>
      </p:pic>
      <p:sp>
        <p:nvSpPr>
          <p:cNvPr id="16" name="Text 11"/>
          <p:cNvSpPr/>
          <p:nvPr/>
        </p:nvSpPr>
        <p:spPr>
          <a:xfrm>
            <a:off x="1965960" y="4645152"/>
            <a:ext cx="8961120" cy="411480"/>
          </a:xfrm>
          <a:prstGeom prst="rect">
            <a:avLst/>
          </a:prstGeom>
          <a:noFill/>
          <a:ln/>
        </p:spPr>
        <p:txBody>
          <a:bodyPr wrap="square" rtlCol="0" anchor="ctr"/>
          <a:lstStyle/>
          <a:p>
            <a:pPr indent="0" marL="0">
              <a:buNone/>
            </a:pPr>
            <a:r>
              <a:rPr lang="en-US" sz="1900" b="1" dirty="0">
                <a:solidFill>
                  <a:srgbClr val="02C39A"/>
                </a:solidFill>
                <a:latin typeface="Calibri" pitchFamily="34" charset="0"/>
                <a:ea typeface="Calibri" pitchFamily="34" charset="-122"/>
                <a:cs typeface="Calibri" pitchFamily="34" charset="-120"/>
              </a:rPr>
              <a:t>Grounding guardrail</a:t>
            </a:r>
            <a:endParaRPr lang="en-US" sz="1900" dirty="0"/>
          </a:p>
        </p:txBody>
      </p:sp>
      <p:sp>
        <p:nvSpPr>
          <p:cNvPr id="17" name="Text 12"/>
          <p:cNvSpPr/>
          <p:nvPr/>
        </p:nvSpPr>
        <p:spPr>
          <a:xfrm>
            <a:off x="1965960" y="5047488"/>
            <a:ext cx="9144000" cy="640080"/>
          </a:xfrm>
          <a:prstGeom prst="rect">
            <a:avLst/>
          </a:prstGeom>
          <a:noFill/>
          <a:ln/>
        </p:spPr>
        <p:txBody>
          <a:bodyPr wrap="square" rtlCol="0" anchor="ctr"/>
          <a:lstStyle/>
          <a:p>
            <a:pPr indent="0" marL="0">
              <a:buNone/>
            </a:pPr>
            <a:r>
              <a:rPr lang="en-US" sz="1350" dirty="0">
                <a:solidFill>
                  <a:srgbClr val="9AA0AD"/>
                </a:solidFill>
                <a:latin typeface="Calibri" pitchFamily="34" charset="0"/>
                <a:ea typeface="Calibri" pitchFamily="34" charset="-122"/>
                <a:cs typeface="Calibri" pitchFamily="34" charset="-120"/>
              </a:rPr>
              <a:t>The answer must come from the returned rows. If the data can't answer, the model returns IMPOSSIBLE and the app flags it instead of inventing a value.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indent="0" marL="0">
              <a:buNone/>
            </a:pPr>
            <a:r>
              <a:rPr lang="en-US" sz="3600" b="1" dirty="0">
                <a:solidFill>
                  <a:srgbClr val="E8EAF0"/>
                </a:solidFill>
                <a:latin typeface="Cambria" pitchFamily="34" charset="0"/>
                <a:ea typeface="Cambria" pitchFamily="34" charset="-122"/>
                <a:cs typeface="Cambria" pitchFamily="34" charset="-120"/>
              </a:rPr>
              <a:t>Architecture</a:t>
            </a:r>
            <a:endParaRPr lang="en-US" sz="3600" dirty="0"/>
          </a:p>
        </p:txBody>
      </p:sp>
      <p:sp>
        <p:nvSpPr>
          <p:cNvPr id="3" name="Shape 1"/>
          <p:cNvSpPr/>
          <p:nvPr/>
        </p:nvSpPr>
        <p:spPr>
          <a:xfrm>
            <a:off x="731520" y="1920240"/>
            <a:ext cx="2514600" cy="2834640"/>
          </a:xfrm>
          <a:prstGeom prst="roundRect">
            <a:avLst>
              <a:gd name="adj" fmla="val 4364"/>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4" name="Shape 2"/>
          <p:cNvSpPr/>
          <p:nvPr/>
        </p:nvSpPr>
        <p:spPr>
          <a:xfrm>
            <a:off x="1645920" y="2194560"/>
            <a:ext cx="685800" cy="68580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5" name="Image 0" descr="preencoded.png">    </p:cNvPr>
          <p:cNvPicPr>
            <a:picLocks noChangeAspect="1"/>
          </p:cNvPicPr>
          <p:nvPr/>
        </p:nvPicPr>
        <p:blipFill>
          <a:blip r:embed="rId1"/>
          <a:stretch>
            <a:fillRect/>
          </a:stretch>
        </p:blipFill>
        <p:spPr>
          <a:xfrm>
            <a:off x="1824228" y="2372868"/>
            <a:ext cx="329184" cy="329184"/>
          </a:xfrm>
          <a:prstGeom prst="rect">
            <a:avLst/>
          </a:prstGeom>
        </p:spPr>
      </p:pic>
      <p:sp>
        <p:nvSpPr>
          <p:cNvPr id="6" name="Text 3"/>
          <p:cNvSpPr/>
          <p:nvPr/>
        </p:nvSpPr>
        <p:spPr>
          <a:xfrm>
            <a:off x="822960" y="3017520"/>
            <a:ext cx="2331720" cy="457200"/>
          </a:xfrm>
          <a:prstGeom prst="rect">
            <a:avLst/>
          </a:prstGeom>
          <a:noFill/>
          <a:ln/>
        </p:spPr>
        <p:txBody>
          <a:bodyPr wrap="square" rtlCol="0" anchor="ctr"/>
          <a:lstStyle/>
          <a:p>
            <a:pPr algn="ctr" indent="0" marL="0">
              <a:buNone/>
            </a:pPr>
            <a:r>
              <a:rPr lang="en-US" sz="1600" b="1" dirty="0">
                <a:solidFill>
                  <a:srgbClr val="E8EAF0"/>
                </a:solidFill>
                <a:latin typeface="Calibri" pitchFamily="34" charset="0"/>
                <a:ea typeface="Calibri" pitchFamily="34" charset="-122"/>
                <a:cs typeface="Calibri" pitchFamily="34" charset="-120"/>
              </a:rPr>
              <a:t>Streamlit UI</a:t>
            </a:r>
            <a:endParaRPr lang="en-US" sz="1600" dirty="0"/>
          </a:p>
        </p:txBody>
      </p:sp>
      <p:sp>
        <p:nvSpPr>
          <p:cNvPr id="7" name="Text 4"/>
          <p:cNvSpPr/>
          <p:nvPr/>
        </p:nvSpPr>
        <p:spPr>
          <a:xfrm>
            <a:off x="868680" y="3520440"/>
            <a:ext cx="2240280" cy="1097280"/>
          </a:xfrm>
          <a:prstGeom prst="rect">
            <a:avLst/>
          </a:prstGeom>
          <a:noFill/>
          <a:ln/>
        </p:spPr>
        <p:txBody>
          <a:bodyPr wrap="square" rtlCol="0" anchor="ctr"/>
          <a:lstStyle/>
          <a:p>
            <a:pPr algn="ctr" indent="0" marL="0">
              <a:buNone/>
            </a:pPr>
            <a:r>
              <a:rPr lang="en-US" sz="1200" dirty="0">
                <a:solidFill>
                  <a:srgbClr val="9AA0AD"/>
                </a:solidFill>
                <a:latin typeface="Calibri" pitchFamily="34" charset="0"/>
                <a:ea typeface="Calibri" pitchFamily="34" charset="-122"/>
                <a:cs typeface="Calibri" pitchFamily="34" charset="-120"/>
              </a:rPr>
              <a:t>Python front-end: question box, role selector, charts, metrics</a:t>
            </a:r>
            <a:endParaRPr lang="en-US" sz="1200" dirty="0"/>
          </a:p>
        </p:txBody>
      </p:sp>
      <p:sp>
        <p:nvSpPr>
          <p:cNvPr id="8" name="Text 5"/>
          <p:cNvSpPr/>
          <p:nvPr/>
        </p:nvSpPr>
        <p:spPr>
          <a:xfrm>
            <a:off x="3063240" y="2926080"/>
            <a:ext cx="411480" cy="731520"/>
          </a:xfrm>
          <a:prstGeom prst="rect">
            <a:avLst/>
          </a:prstGeom>
          <a:noFill/>
          <a:ln/>
        </p:spPr>
        <p:txBody>
          <a:bodyPr wrap="square" rtlCol="0" anchor="ctr"/>
          <a:lstStyle/>
          <a:p>
            <a:pPr algn="ctr" indent="0" marL="0">
              <a:buNone/>
            </a:pPr>
            <a:r>
              <a:rPr lang="en-US" sz="2400" dirty="0">
                <a:solidFill>
                  <a:srgbClr val="028090"/>
                </a:solidFill>
              </a:rPr>
              <a:t>→</a:t>
            </a:r>
            <a:endParaRPr lang="en-US" sz="2400" dirty="0"/>
          </a:p>
        </p:txBody>
      </p:sp>
      <p:sp>
        <p:nvSpPr>
          <p:cNvPr id="9" name="Shape 6"/>
          <p:cNvSpPr/>
          <p:nvPr/>
        </p:nvSpPr>
        <p:spPr>
          <a:xfrm>
            <a:off x="3429000" y="1920240"/>
            <a:ext cx="2514600" cy="2834640"/>
          </a:xfrm>
          <a:prstGeom prst="roundRect">
            <a:avLst>
              <a:gd name="adj" fmla="val 4364"/>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10" name="Shape 7"/>
          <p:cNvSpPr/>
          <p:nvPr/>
        </p:nvSpPr>
        <p:spPr>
          <a:xfrm>
            <a:off x="4343400" y="2194560"/>
            <a:ext cx="685800" cy="68580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4521708" y="2372868"/>
            <a:ext cx="329184" cy="329184"/>
          </a:xfrm>
          <a:prstGeom prst="rect">
            <a:avLst/>
          </a:prstGeom>
        </p:spPr>
      </p:pic>
      <p:sp>
        <p:nvSpPr>
          <p:cNvPr id="12" name="Text 8"/>
          <p:cNvSpPr/>
          <p:nvPr/>
        </p:nvSpPr>
        <p:spPr>
          <a:xfrm>
            <a:off x="3520440" y="3017520"/>
            <a:ext cx="2331720" cy="457200"/>
          </a:xfrm>
          <a:prstGeom prst="rect">
            <a:avLst/>
          </a:prstGeom>
          <a:noFill/>
          <a:ln/>
        </p:spPr>
        <p:txBody>
          <a:bodyPr wrap="square" rtlCol="0" anchor="ctr"/>
          <a:lstStyle/>
          <a:p>
            <a:pPr algn="ctr" indent="0" marL="0">
              <a:buNone/>
            </a:pPr>
            <a:r>
              <a:rPr lang="en-US" sz="1600" b="1" dirty="0">
                <a:solidFill>
                  <a:srgbClr val="E8EAF0"/>
                </a:solidFill>
                <a:latin typeface="Calibri" pitchFamily="34" charset="0"/>
                <a:ea typeface="Calibri" pitchFamily="34" charset="-122"/>
                <a:cs typeface="Calibri" pitchFamily="34" charset="-120"/>
              </a:rPr>
              <a:t>Featherless AI</a:t>
            </a:r>
            <a:endParaRPr lang="en-US" sz="1600" dirty="0"/>
          </a:p>
        </p:txBody>
      </p:sp>
      <p:sp>
        <p:nvSpPr>
          <p:cNvPr id="13" name="Text 9"/>
          <p:cNvSpPr/>
          <p:nvPr/>
        </p:nvSpPr>
        <p:spPr>
          <a:xfrm>
            <a:off x="3566160" y="3520440"/>
            <a:ext cx="2240280" cy="1097280"/>
          </a:xfrm>
          <a:prstGeom prst="rect">
            <a:avLst/>
          </a:prstGeom>
          <a:noFill/>
          <a:ln/>
        </p:spPr>
        <p:txBody>
          <a:bodyPr wrap="square" rtlCol="0" anchor="ctr"/>
          <a:lstStyle/>
          <a:p>
            <a:pPr algn="ctr" indent="0" marL="0">
              <a:buNone/>
            </a:pPr>
            <a:r>
              <a:rPr lang="en-US" sz="1200" dirty="0">
                <a:solidFill>
                  <a:srgbClr val="9AA0AD"/>
                </a:solidFill>
                <a:latin typeface="Calibri" pitchFamily="34" charset="0"/>
                <a:ea typeface="Calibri" pitchFamily="34" charset="-122"/>
                <a:cs typeface="Calibri" pitchFamily="34" charset="-120"/>
              </a:rPr>
              <a:t>Qwen3-Coder model writes SQL from plain English</a:t>
            </a:r>
            <a:endParaRPr lang="en-US" sz="1200" dirty="0"/>
          </a:p>
        </p:txBody>
      </p:sp>
      <p:sp>
        <p:nvSpPr>
          <p:cNvPr id="14" name="Text 10"/>
          <p:cNvSpPr/>
          <p:nvPr/>
        </p:nvSpPr>
        <p:spPr>
          <a:xfrm>
            <a:off x="5760720" y="2926080"/>
            <a:ext cx="411480" cy="731520"/>
          </a:xfrm>
          <a:prstGeom prst="rect">
            <a:avLst/>
          </a:prstGeom>
          <a:noFill/>
          <a:ln/>
        </p:spPr>
        <p:txBody>
          <a:bodyPr wrap="square" rtlCol="0" anchor="ctr"/>
          <a:lstStyle/>
          <a:p>
            <a:pPr algn="ctr" indent="0" marL="0">
              <a:buNone/>
            </a:pPr>
            <a:r>
              <a:rPr lang="en-US" sz="2400" dirty="0">
                <a:solidFill>
                  <a:srgbClr val="028090"/>
                </a:solidFill>
              </a:rPr>
              <a:t>→</a:t>
            </a:r>
            <a:endParaRPr lang="en-US" sz="2400" dirty="0"/>
          </a:p>
        </p:txBody>
      </p:sp>
      <p:sp>
        <p:nvSpPr>
          <p:cNvPr id="15" name="Shape 11"/>
          <p:cNvSpPr/>
          <p:nvPr/>
        </p:nvSpPr>
        <p:spPr>
          <a:xfrm>
            <a:off x="6126480" y="1920240"/>
            <a:ext cx="2514600" cy="2834640"/>
          </a:xfrm>
          <a:prstGeom prst="roundRect">
            <a:avLst>
              <a:gd name="adj" fmla="val 4364"/>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16" name="Shape 12"/>
          <p:cNvSpPr/>
          <p:nvPr/>
        </p:nvSpPr>
        <p:spPr>
          <a:xfrm>
            <a:off x="7040880" y="2194560"/>
            <a:ext cx="685800" cy="68580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7" name="Image 2" descr="preencoded.png">    </p:cNvPr>
          <p:cNvPicPr>
            <a:picLocks noChangeAspect="1"/>
          </p:cNvPicPr>
          <p:nvPr/>
        </p:nvPicPr>
        <p:blipFill>
          <a:blip r:embed="rId3"/>
          <a:stretch>
            <a:fillRect/>
          </a:stretch>
        </p:blipFill>
        <p:spPr>
          <a:xfrm>
            <a:off x="7219188" y="2372868"/>
            <a:ext cx="329184" cy="329184"/>
          </a:xfrm>
          <a:prstGeom prst="rect">
            <a:avLst/>
          </a:prstGeom>
        </p:spPr>
      </p:pic>
      <p:sp>
        <p:nvSpPr>
          <p:cNvPr id="18" name="Text 13"/>
          <p:cNvSpPr/>
          <p:nvPr/>
        </p:nvSpPr>
        <p:spPr>
          <a:xfrm>
            <a:off x="6217920" y="3017520"/>
            <a:ext cx="2331720" cy="457200"/>
          </a:xfrm>
          <a:prstGeom prst="rect">
            <a:avLst/>
          </a:prstGeom>
          <a:noFill/>
          <a:ln/>
        </p:spPr>
        <p:txBody>
          <a:bodyPr wrap="square" rtlCol="0" anchor="ctr"/>
          <a:lstStyle/>
          <a:p>
            <a:pPr algn="ctr" indent="0" marL="0">
              <a:buNone/>
            </a:pPr>
            <a:r>
              <a:rPr lang="en-US" sz="1600" b="1" dirty="0">
                <a:solidFill>
                  <a:srgbClr val="E8EAF0"/>
                </a:solidFill>
                <a:latin typeface="Calibri" pitchFamily="34" charset="0"/>
                <a:ea typeface="Calibri" pitchFamily="34" charset="-122"/>
                <a:cs typeface="Calibri" pitchFamily="34" charset="-120"/>
              </a:rPr>
              <a:t>Pipeline</a:t>
            </a:r>
            <a:endParaRPr lang="en-US" sz="1600" dirty="0"/>
          </a:p>
        </p:txBody>
      </p:sp>
      <p:sp>
        <p:nvSpPr>
          <p:cNvPr id="19" name="Text 14"/>
          <p:cNvSpPr/>
          <p:nvPr/>
        </p:nvSpPr>
        <p:spPr>
          <a:xfrm>
            <a:off x="6263640" y="3520440"/>
            <a:ext cx="2240280" cy="1097280"/>
          </a:xfrm>
          <a:prstGeom prst="rect">
            <a:avLst/>
          </a:prstGeom>
          <a:noFill/>
          <a:ln/>
        </p:spPr>
        <p:txBody>
          <a:bodyPr wrap="square" rtlCol="0" anchor="ctr"/>
          <a:lstStyle/>
          <a:p>
            <a:pPr algn="ctr" indent="0" marL="0">
              <a:buNone/>
            </a:pPr>
            <a:r>
              <a:rPr lang="en-US" sz="1200" dirty="0">
                <a:solidFill>
                  <a:srgbClr val="9AA0AD"/>
                </a:solidFill>
                <a:latin typeface="Calibri" pitchFamily="34" charset="0"/>
                <a:ea typeface="Calibri" pitchFamily="34" charset="-122"/>
                <a:cs typeface="Calibri" pitchFamily="34" charset="-120"/>
              </a:rPr>
              <a:t>Schema linking → access control → SQL → grounding</a:t>
            </a:r>
            <a:endParaRPr lang="en-US" sz="1200" dirty="0"/>
          </a:p>
        </p:txBody>
      </p:sp>
      <p:sp>
        <p:nvSpPr>
          <p:cNvPr id="20" name="Text 15"/>
          <p:cNvSpPr/>
          <p:nvPr/>
        </p:nvSpPr>
        <p:spPr>
          <a:xfrm>
            <a:off x="8458200" y="2926080"/>
            <a:ext cx="411480" cy="731520"/>
          </a:xfrm>
          <a:prstGeom prst="rect">
            <a:avLst/>
          </a:prstGeom>
          <a:noFill/>
          <a:ln/>
        </p:spPr>
        <p:txBody>
          <a:bodyPr wrap="square" rtlCol="0" anchor="ctr"/>
          <a:lstStyle/>
          <a:p>
            <a:pPr algn="ctr" indent="0" marL="0">
              <a:buNone/>
            </a:pPr>
            <a:r>
              <a:rPr lang="en-US" sz="2400" dirty="0">
                <a:solidFill>
                  <a:srgbClr val="028090"/>
                </a:solidFill>
              </a:rPr>
              <a:t>→</a:t>
            </a:r>
            <a:endParaRPr lang="en-US" sz="2400" dirty="0"/>
          </a:p>
        </p:txBody>
      </p:sp>
      <p:sp>
        <p:nvSpPr>
          <p:cNvPr id="21" name="Shape 16"/>
          <p:cNvSpPr/>
          <p:nvPr/>
        </p:nvSpPr>
        <p:spPr>
          <a:xfrm>
            <a:off x="8823960" y="1920240"/>
            <a:ext cx="2514600" cy="2834640"/>
          </a:xfrm>
          <a:prstGeom prst="roundRect">
            <a:avLst>
              <a:gd name="adj" fmla="val 4364"/>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22" name="Shape 17"/>
          <p:cNvSpPr/>
          <p:nvPr/>
        </p:nvSpPr>
        <p:spPr>
          <a:xfrm>
            <a:off x="9738360" y="2194560"/>
            <a:ext cx="685800" cy="68580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23" name="Image 3" descr="preencoded.png">    </p:cNvPr>
          <p:cNvPicPr>
            <a:picLocks noChangeAspect="1"/>
          </p:cNvPicPr>
          <p:nvPr/>
        </p:nvPicPr>
        <p:blipFill>
          <a:blip r:embed="rId4"/>
          <a:stretch>
            <a:fillRect/>
          </a:stretch>
        </p:blipFill>
        <p:spPr>
          <a:xfrm>
            <a:off x="9916668" y="2372868"/>
            <a:ext cx="329184" cy="329184"/>
          </a:xfrm>
          <a:prstGeom prst="rect">
            <a:avLst/>
          </a:prstGeom>
        </p:spPr>
      </p:pic>
      <p:sp>
        <p:nvSpPr>
          <p:cNvPr id="24" name="Text 18"/>
          <p:cNvSpPr/>
          <p:nvPr/>
        </p:nvSpPr>
        <p:spPr>
          <a:xfrm>
            <a:off x="8915400" y="3017520"/>
            <a:ext cx="2331720" cy="457200"/>
          </a:xfrm>
          <a:prstGeom prst="rect">
            <a:avLst/>
          </a:prstGeom>
          <a:noFill/>
          <a:ln/>
        </p:spPr>
        <p:txBody>
          <a:bodyPr wrap="square" rtlCol="0" anchor="ctr"/>
          <a:lstStyle/>
          <a:p>
            <a:pPr algn="ctr" indent="0" marL="0">
              <a:buNone/>
            </a:pPr>
            <a:r>
              <a:rPr lang="en-US" sz="1600" b="1" dirty="0">
                <a:solidFill>
                  <a:srgbClr val="E8EAF0"/>
                </a:solidFill>
                <a:latin typeface="Calibri" pitchFamily="34" charset="0"/>
                <a:ea typeface="Calibri" pitchFamily="34" charset="-122"/>
                <a:cs typeface="Calibri" pitchFamily="34" charset="-120"/>
              </a:rPr>
              <a:t>DuckDB</a:t>
            </a:r>
            <a:endParaRPr lang="en-US" sz="1600" dirty="0"/>
          </a:p>
        </p:txBody>
      </p:sp>
      <p:sp>
        <p:nvSpPr>
          <p:cNvPr id="25" name="Text 19"/>
          <p:cNvSpPr/>
          <p:nvPr/>
        </p:nvSpPr>
        <p:spPr>
          <a:xfrm>
            <a:off x="8961120" y="3520440"/>
            <a:ext cx="2240280" cy="1097280"/>
          </a:xfrm>
          <a:prstGeom prst="rect">
            <a:avLst/>
          </a:prstGeom>
          <a:noFill/>
          <a:ln/>
        </p:spPr>
        <p:txBody>
          <a:bodyPr wrap="square" rtlCol="0" anchor="ctr"/>
          <a:lstStyle/>
          <a:p>
            <a:pPr algn="ctr" indent="0" marL="0">
              <a:buNone/>
            </a:pPr>
            <a:r>
              <a:rPr lang="en-US" sz="1200" dirty="0">
                <a:solidFill>
                  <a:srgbClr val="9AA0AD"/>
                </a:solidFill>
                <a:latin typeface="Calibri" pitchFamily="34" charset="0"/>
                <a:ea typeface="Calibri" pitchFamily="34" charset="-122"/>
                <a:cs typeface="Calibri" pitchFamily="34" charset="-120"/>
              </a:rPr>
              <a:t>Fast local SQL engine over the healthcare tables</a:t>
            </a:r>
            <a:endParaRPr lang="en-US" sz="1200" dirty="0"/>
          </a:p>
        </p:txBody>
      </p:sp>
      <p:sp>
        <p:nvSpPr>
          <p:cNvPr id="26" name="Text 20"/>
          <p:cNvSpPr/>
          <p:nvPr/>
        </p:nvSpPr>
        <p:spPr>
          <a:xfrm>
            <a:off x="731520" y="5120640"/>
            <a:ext cx="10698480" cy="457200"/>
          </a:xfrm>
          <a:prstGeom prst="rect">
            <a:avLst/>
          </a:prstGeom>
          <a:noFill/>
          <a:ln/>
        </p:spPr>
        <p:txBody>
          <a:bodyPr wrap="square" rtlCol="0" anchor="ctr"/>
          <a:lstStyle/>
          <a:p>
            <a:pPr algn="ctr" indent="0" marL="0">
              <a:buNone/>
            </a:pPr>
            <a:r>
              <a:rPr lang="en-US" sz="1400" i="1" dirty="0">
                <a:solidFill>
                  <a:srgbClr val="00A896"/>
                </a:solidFill>
                <a:latin typeface="Calibri" pitchFamily="34" charset="0"/>
                <a:ea typeface="Calibri" pitchFamily="34" charset="-122"/>
                <a:cs typeface="Calibri" pitchFamily="34" charset="-120"/>
              </a:rPr>
              <a:t>Backend-agnostic: DuckDB can be swapped for BigQuery — the same pipeline scales to production.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indent="0" marL="0">
              <a:buNone/>
            </a:pPr>
            <a:r>
              <a:rPr lang="en-US" sz="3600" b="1" dirty="0">
                <a:solidFill>
                  <a:srgbClr val="E8EAF0"/>
                </a:solidFill>
                <a:latin typeface="Cambria" pitchFamily="34" charset="0"/>
                <a:ea typeface="Cambria" pitchFamily="34" charset="-122"/>
                <a:cs typeface="Cambria" pitchFamily="34" charset="-120"/>
              </a:rPr>
              <a:t>Data model</a:t>
            </a:r>
            <a:endParaRPr lang="en-US" sz="3600" dirty="0"/>
          </a:p>
        </p:txBody>
      </p:sp>
      <p:sp>
        <p:nvSpPr>
          <p:cNvPr id="3" name="Text 1"/>
          <p:cNvSpPr/>
          <p:nvPr/>
        </p:nvSpPr>
        <p:spPr>
          <a:xfrm>
            <a:off x="731520" y="1188720"/>
            <a:ext cx="10698480" cy="457200"/>
          </a:xfrm>
          <a:prstGeom prst="rect">
            <a:avLst/>
          </a:prstGeom>
          <a:noFill/>
          <a:ln/>
        </p:spPr>
        <p:txBody>
          <a:bodyPr wrap="square" rtlCol="0" anchor="ctr"/>
          <a:lstStyle/>
          <a:p>
            <a:pPr indent="0" marL="0">
              <a:buNone/>
            </a:pPr>
            <a:r>
              <a:rPr lang="en-US" sz="1600" dirty="0">
                <a:solidFill>
                  <a:srgbClr val="9AA0AD"/>
                </a:solidFill>
                <a:latin typeface="Calibri" pitchFamily="34" charset="0"/>
                <a:ea typeface="Calibri" pitchFamily="34" charset="-122"/>
                <a:cs typeface="Calibri" pitchFamily="34" charset="-120"/>
              </a:rPr>
              <a:t>Four tables, ~2,000 members. All linked by member_id — the multi-table joins this problem is about.</a:t>
            </a:r>
            <a:endParaRPr lang="en-US" sz="1600" dirty="0"/>
          </a:p>
        </p:txBody>
      </p:sp>
      <p:sp>
        <p:nvSpPr>
          <p:cNvPr id="4" name="Shape 2"/>
          <p:cNvSpPr/>
          <p:nvPr/>
        </p:nvSpPr>
        <p:spPr>
          <a:xfrm>
            <a:off x="4572000" y="2011680"/>
            <a:ext cx="3017520" cy="1371600"/>
          </a:xfrm>
          <a:prstGeom prst="roundRect">
            <a:avLst>
              <a:gd name="adj" fmla="val 8000"/>
            </a:avLst>
          </a:prstGeom>
          <a:solidFill>
            <a:srgbClr val="13332A"/>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5" name="Shape 3"/>
          <p:cNvSpPr/>
          <p:nvPr/>
        </p:nvSpPr>
        <p:spPr>
          <a:xfrm>
            <a:off x="4800600" y="2240280"/>
            <a:ext cx="548640" cy="548640"/>
          </a:xfrm>
          <a:prstGeom prst="ellipse">
            <a:avLst/>
          </a:prstGeom>
          <a:solidFill>
            <a:srgbClr val="02C39A"/>
          </a:solidFill>
          <a:ln/>
          <a:effectLst>
            <a:outerShdw sx="100000" sy="100000" kx="0" ky="0" algn="bl" rotWithShape="0" blurRad="101600" dist="38100" dir="54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4943246" y="2382926"/>
            <a:ext cx="263347" cy="263347"/>
          </a:xfrm>
          <a:prstGeom prst="rect">
            <a:avLst/>
          </a:prstGeom>
        </p:spPr>
      </p:pic>
      <p:sp>
        <p:nvSpPr>
          <p:cNvPr id="7" name="Text 4"/>
          <p:cNvSpPr/>
          <p:nvPr/>
        </p:nvSpPr>
        <p:spPr>
          <a:xfrm>
            <a:off x="5486400" y="2286000"/>
            <a:ext cx="2011680" cy="365760"/>
          </a:xfrm>
          <a:prstGeom prst="rect">
            <a:avLst/>
          </a:prstGeom>
          <a:noFill/>
          <a:ln/>
        </p:spPr>
        <p:txBody>
          <a:bodyPr wrap="square" rtlCol="0" anchor="ctr"/>
          <a:lstStyle/>
          <a:p>
            <a:pPr indent="0" marL="0">
              <a:buNone/>
            </a:pPr>
            <a:r>
              <a:rPr lang="en-US" sz="1800" b="1" dirty="0">
                <a:solidFill>
                  <a:srgbClr val="E8EAF0"/>
                </a:solidFill>
                <a:latin typeface="Calibri" pitchFamily="34" charset="0"/>
                <a:ea typeface="Calibri" pitchFamily="34" charset="-122"/>
                <a:cs typeface="Calibri" pitchFamily="34" charset="-120"/>
              </a:rPr>
              <a:t>members</a:t>
            </a:r>
            <a:endParaRPr lang="en-US" sz="1800" dirty="0"/>
          </a:p>
        </p:txBody>
      </p:sp>
      <p:sp>
        <p:nvSpPr>
          <p:cNvPr id="8" name="Text 5"/>
          <p:cNvSpPr/>
          <p:nvPr/>
        </p:nvSpPr>
        <p:spPr>
          <a:xfrm>
            <a:off x="5486400" y="2651760"/>
            <a:ext cx="2011680" cy="365760"/>
          </a:xfrm>
          <a:prstGeom prst="rect">
            <a:avLst/>
          </a:prstGeom>
          <a:noFill/>
          <a:ln/>
        </p:spPr>
        <p:txBody>
          <a:bodyPr wrap="square" rtlCol="0" anchor="ctr"/>
          <a:lstStyle/>
          <a:p>
            <a:pPr indent="0" marL="0">
              <a:buNone/>
            </a:pPr>
            <a:r>
              <a:rPr lang="en-US" sz="1200" dirty="0">
                <a:solidFill>
                  <a:srgbClr val="02C39A"/>
                </a:solidFill>
                <a:latin typeface="Calibri" pitchFamily="34" charset="0"/>
                <a:ea typeface="Calibri" pitchFamily="34" charset="-122"/>
                <a:cs typeface="Calibri" pitchFamily="34" charset="-120"/>
              </a:rPr>
              <a:t>2,000 people · PHI/PII</a:t>
            </a:r>
            <a:endParaRPr lang="en-US" sz="1200" dirty="0"/>
          </a:p>
        </p:txBody>
      </p:sp>
      <p:sp>
        <p:nvSpPr>
          <p:cNvPr id="9" name="Text 6"/>
          <p:cNvSpPr/>
          <p:nvPr/>
        </p:nvSpPr>
        <p:spPr>
          <a:xfrm>
            <a:off x="4846320" y="3017520"/>
            <a:ext cx="2468880" cy="274320"/>
          </a:xfrm>
          <a:prstGeom prst="rect">
            <a:avLst/>
          </a:prstGeom>
          <a:noFill/>
          <a:ln/>
        </p:spPr>
        <p:txBody>
          <a:bodyPr wrap="square" rtlCol="0" anchor="ctr"/>
          <a:lstStyle/>
          <a:p>
            <a:pPr indent="0" marL="0">
              <a:buNone/>
            </a:pPr>
            <a:r>
              <a:rPr lang="en-US" sz="1100" dirty="0">
                <a:solidFill>
                  <a:srgbClr val="9AA0AD"/>
                </a:solidFill>
                <a:latin typeface="Courier New" pitchFamily="34" charset="0"/>
                <a:ea typeface="Courier New" pitchFamily="34" charset="-122"/>
                <a:cs typeface="Courier New" pitchFamily="34" charset="-120"/>
              </a:rPr>
              <a:t>member_id (key)</a:t>
            </a:r>
            <a:endParaRPr lang="en-US" sz="1100" dirty="0"/>
          </a:p>
        </p:txBody>
      </p:sp>
      <p:sp>
        <p:nvSpPr>
          <p:cNvPr id="10" name="Shape 7"/>
          <p:cNvSpPr/>
          <p:nvPr/>
        </p:nvSpPr>
        <p:spPr>
          <a:xfrm>
            <a:off x="5486400" y="3383280"/>
            <a:ext cx="-3108960" cy="822960"/>
          </a:xfrm>
          <a:prstGeom prst="line">
            <a:avLst/>
          </a:prstGeom>
          <a:noFill/>
          <a:ln w="19050">
            <a:solidFill>
              <a:srgbClr val="028090"/>
            </a:solidFill>
            <a:prstDash val="solid"/>
          </a:ln>
        </p:spPr>
      </p:sp>
      <p:sp>
        <p:nvSpPr>
          <p:cNvPr id="11" name="Shape 8"/>
          <p:cNvSpPr/>
          <p:nvPr/>
        </p:nvSpPr>
        <p:spPr>
          <a:xfrm>
            <a:off x="6080760" y="3383280"/>
            <a:ext cx="0" cy="822960"/>
          </a:xfrm>
          <a:prstGeom prst="line">
            <a:avLst/>
          </a:prstGeom>
          <a:noFill/>
          <a:ln w="19050">
            <a:solidFill>
              <a:srgbClr val="028090"/>
            </a:solidFill>
            <a:prstDash val="solid"/>
          </a:ln>
        </p:spPr>
      </p:sp>
      <p:sp>
        <p:nvSpPr>
          <p:cNvPr id="12" name="Shape 9"/>
          <p:cNvSpPr/>
          <p:nvPr/>
        </p:nvSpPr>
        <p:spPr>
          <a:xfrm>
            <a:off x="6675120" y="3383280"/>
            <a:ext cx="3108960" cy="822960"/>
          </a:xfrm>
          <a:prstGeom prst="line">
            <a:avLst/>
          </a:prstGeom>
          <a:noFill/>
          <a:ln w="19050">
            <a:solidFill>
              <a:srgbClr val="028090"/>
            </a:solidFill>
            <a:prstDash val="solid"/>
          </a:ln>
        </p:spPr>
      </p:sp>
      <p:sp>
        <p:nvSpPr>
          <p:cNvPr id="13" name="Shape 10"/>
          <p:cNvSpPr/>
          <p:nvPr/>
        </p:nvSpPr>
        <p:spPr>
          <a:xfrm>
            <a:off x="822960" y="4206240"/>
            <a:ext cx="3017520" cy="1371600"/>
          </a:xfrm>
          <a:prstGeom prst="roundRect">
            <a:avLst>
              <a:gd name="adj" fmla="val 8000"/>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14" name="Shape 11"/>
          <p:cNvSpPr/>
          <p:nvPr/>
        </p:nvSpPr>
        <p:spPr>
          <a:xfrm>
            <a:off x="1051560" y="4434840"/>
            <a:ext cx="502920" cy="50292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5" name="Image 1" descr="preencoded.png">    </p:cNvPr>
          <p:cNvPicPr>
            <a:picLocks noChangeAspect="1"/>
          </p:cNvPicPr>
          <p:nvPr/>
        </p:nvPicPr>
        <p:blipFill>
          <a:blip r:embed="rId2"/>
          <a:stretch>
            <a:fillRect/>
          </a:stretch>
        </p:blipFill>
        <p:spPr>
          <a:xfrm>
            <a:off x="1182319" y="4565599"/>
            <a:ext cx="241402" cy="241402"/>
          </a:xfrm>
          <a:prstGeom prst="rect">
            <a:avLst/>
          </a:prstGeom>
        </p:spPr>
      </p:pic>
      <p:sp>
        <p:nvSpPr>
          <p:cNvPr id="16" name="Text 12"/>
          <p:cNvSpPr/>
          <p:nvPr/>
        </p:nvSpPr>
        <p:spPr>
          <a:xfrm>
            <a:off x="1691640" y="4434840"/>
            <a:ext cx="2011680" cy="365760"/>
          </a:xfrm>
          <a:prstGeom prst="rect">
            <a:avLst/>
          </a:prstGeom>
          <a:noFill/>
          <a:ln/>
        </p:spPr>
        <p:txBody>
          <a:bodyPr wrap="square"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enrollments</a:t>
            </a:r>
            <a:endParaRPr lang="en-US" sz="1500" dirty="0"/>
          </a:p>
        </p:txBody>
      </p:sp>
      <p:sp>
        <p:nvSpPr>
          <p:cNvPr id="17" name="Text 13"/>
          <p:cNvSpPr/>
          <p:nvPr/>
        </p:nvSpPr>
        <p:spPr>
          <a:xfrm>
            <a:off x="1691640" y="4773168"/>
            <a:ext cx="2011680" cy="365760"/>
          </a:xfrm>
          <a:prstGeom prst="rect">
            <a:avLst/>
          </a:prstGeom>
          <a:noFill/>
          <a:ln/>
        </p:spPr>
        <p:txBody>
          <a:bodyPr wrap="square" rtlCol="0" anchor="ctr"/>
          <a:lstStyle/>
          <a:p>
            <a:pPr indent="0" marL="0">
              <a:buNone/>
            </a:pPr>
            <a:r>
              <a:rPr lang="en-US" sz="1100" dirty="0">
                <a:solidFill>
                  <a:srgbClr val="9AA0AD"/>
                </a:solidFill>
                <a:latin typeface="Calibri" pitchFamily="34" charset="0"/>
                <a:ea typeface="Calibri" pitchFamily="34" charset="-122"/>
                <a:cs typeface="Calibri" pitchFamily="34" charset="-120"/>
              </a:rPr>
              <a:t>plans, premiums, dates</a:t>
            </a:r>
            <a:endParaRPr lang="en-US" sz="1100" dirty="0"/>
          </a:p>
        </p:txBody>
      </p:sp>
      <p:sp>
        <p:nvSpPr>
          <p:cNvPr id="18" name="Text 14"/>
          <p:cNvSpPr/>
          <p:nvPr/>
        </p:nvSpPr>
        <p:spPr>
          <a:xfrm>
            <a:off x="1097280" y="5166360"/>
            <a:ext cx="2468880" cy="274320"/>
          </a:xfrm>
          <a:prstGeom prst="rect">
            <a:avLst/>
          </a:prstGeom>
          <a:noFill/>
          <a:ln/>
        </p:spPr>
        <p:txBody>
          <a:bodyPr wrap="square" rtlCol="0" anchor="ctr"/>
          <a:lstStyle/>
          <a:p>
            <a:pPr indent="0" marL="0">
              <a:buNone/>
            </a:pPr>
            <a:r>
              <a:rPr lang="en-US" sz="1000" dirty="0">
                <a:solidFill>
                  <a:srgbClr val="00A896"/>
                </a:solidFill>
                <a:latin typeface="Courier New" pitchFamily="34" charset="0"/>
                <a:ea typeface="Courier New" pitchFamily="34" charset="-122"/>
                <a:cs typeface="Courier New" pitchFamily="34" charset="-120"/>
              </a:rPr>
              <a:t>member_id (FK)</a:t>
            </a:r>
            <a:endParaRPr lang="en-US" sz="1000" dirty="0"/>
          </a:p>
        </p:txBody>
      </p:sp>
      <p:sp>
        <p:nvSpPr>
          <p:cNvPr id="19" name="Shape 15"/>
          <p:cNvSpPr/>
          <p:nvPr/>
        </p:nvSpPr>
        <p:spPr>
          <a:xfrm>
            <a:off x="4572000" y="4206240"/>
            <a:ext cx="3017520" cy="1371600"/>
          </a:xfrm>
          <a:prstGeom prst="roundRect">
            <a:avLst>
              <a:gd name="adj" fmla="val 8000"/>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20" name="Shape 16"/>
          <p:cNvSpPr/>
          <p:nvPr/>
        </p:nvSpPr>
        <p:spPr>
          <a:xfrm>
            <a:off x="4800600" y="4434840"/>
            <a:ext cx="502920" cy="50292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21" name="Image 2" descr="preencoded.png">    </p:cNvPr>
          <p:cNvPicPr>
            <a:picLocks noChangeAspect="1"/>
          </p:cNvPicPr>
          <p:nvPr/>
        </p:nvPicPr>
        <p:blipFill>
          <a:blip r:embed="rId3"/>
          <a:stretch>
            <a:fillRect/>
          </a:stretch>
        </p:blipFill>
        <p:spPr>
          <a:xfrm>
            <a:off x="4931359" y="4565599"/>
            <a:ext cx="241402" cy="241402"/>
          </a:xfrm>
          <a:prstGeom prst="rect">
            <a:avLst/>
          </a:prstGeom>
        </p:spPr>
      </p:pic>
      <p:sp>
        <p:nvSpPr>
          <p:cNvPr id="22" name="Text 17"/>
          <p:cNvSpPr/>
          <p:nvPr/>
        </p:nvSpPr>
        <p:spPr>
          <a:xfrm>
            <a:off x="5440680" y="4434840"/>
            <a:ext cx="2011680" cy="365760"/>
          </a:xfrm>
          <a:prstGeom prst="rect">
            <a:avLst/>
          </a:prstGeom>
          <a:noFill/>
          <a:ln/>
        </p:spPr>
        <p:txBody>
          <a:bodyPr wrap="square"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claims</a:t>
            </a:r>
            <a:endParaRPr lang="en-US" sz="1500" dirty="0"/>
          </a:p>
        </p:txBody>
      </p:sp>
      <p:sp>
        <p:nvSpPr>
          <p:cNvPr id="23" name="Text 18"/>
          <p:cNvSpPr/>
          <p:nvPr/>
        </p:nvSpPr>
        <p:spPr>
          <a:xfrm>
            <a:off x="5440680" y="4773168"/>
            <a:ext cx="2011680" cy="365760"/>
          </a:xfrm>
          <a:prstGeom prst="rect">
            <a:avLst/>
          </a:prstGeom>
          <a:noFill/>
          <a:ln/>
        </p:spPr>
        <p:txBody>
          <a:bodyPr wrap="square" rtlCol="0" anchor="ctr"/>
          <a:lstStyle/>
          <a:p>
            <a:pPr indent="0" marL="0">
              <a:buNone/>
            </a:pPr>
            <a:r>
              <a:rPr lang="en-US" sz="1100" dirty="0">
                <a:solidFill>
                  <a:srgbClr val="9AA0AD"/>
                </a:solidFill>
                <a:latin typeface="Calibri" pitchFamily="34" charset="0"/>
                <a:ea typeface="Calibri" pitchFamily="34" charset="-122"/>
                <a:cs typeface="Calibri" pitchFamily="34" charset="-120"/>
              </a:rPr>
              <a:t>diagnosis, amount, status</a:t>
            </a:r>
            <a:endParaRPr lang="en-US" sz="1100" dirty="0"/>
          </a:p>
        </p:txBody>
      </p:sp>
      <p:sp>
        <p:nvSpPr>
          <p:cNvPr id="24" name="Text 19"/>
          <p:cNvSpPr/>
          <p:nvPr/>
        </p:nvSpPr>
        <p:spPr>
          <a:xfrm>
            <a:off x="4846320" y="5166360"/>
            <a:ext cx="2468880" cy="274320"/>
          </a:xfrm>
          <a:prstGeom prst="rect">
            <a:avLst/>
          </a:prstGeom>
          <a:noFill/>
          <a:ln/>
        </p:spPr>
        <p:txBody>
          <a:bodyPr wrap="square" rtlCol="0" anchor="ctr"/>
          <a:lstStyle/>
          <a:p>
            <a:pPr indent="0" marL="0">
              <a:buNone/>
            </a:pPr>
            <a:r>
              <a:rPr lang="en-US" sz="1000" dirty="0">
                <a:solidFill>
                  <a:srgbClr val="00A896"/>
                </a:solidFill>
                <a:latin typeface="Courier New" pitchFamily="34" charset="0"/>
                <a:ea typeface="Courier New" pitchFamily="34" charset="-122"/>
                <a:cs typeface="Courier New" pitchFamily="34" charset="-120"/>
              </a:rPr>
              <a:t>member_id (FK)</a:t>
            </a:r>
            <a:endParaRPr lang="en-US" sz="1000" dirty="0"/>
          </a:p>
        </p:txBody>
      </p:sp>
      <p:sp>
        <p:nvSpPr>
          <p:cNvPr id="25" name="Shape 20"/>
          <p:cNvSpPr/>
          <p:nvPr/>
        </p:nvSpPr>
        <p:spPr>
          <a:xfrm>
            <a:off x="8321040" y="4206240"/>
            <a:ext cx="3017520" cy="1371600"/>
          </a:xfrm>
          <a:prstGeom prst="roundRect">
            <a:avLst>
              <a:gd name="adj" fmla="val 8000"/>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26" name="Shape 21"/>
          <p:cNvSpPr/>
          <p:nvPr/>
        </p:nvSpPr>
        <p:spPr>
          <a:xfrm>
            <a:off x="8549640" y="4434840"/>
            <a:ext cx="502920" cy="50292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27" name="Image 3" descr="preencoded.png">    </p:cNvPr>
          <p:cNvPicPr>
            <a:picLocks noChangeAspect="1"/>
          </p:cNvPicPr>
          <p:nvPr/>
        </p:nvPicPr>
        <p:blipFill>
          <a:blip r:embed="rId4"/>
          <a:stretch>
            <a:fillRect/>
          </a:stretch>
        </p:blipFill>
        <p:spPr>
          <a:xfrm>
            <a:off x="8680399" y="4565599"/>
            <a:ext cx="241402" cy="241402"/>
          </a:xfrm>
          <a:prstGeom prst="rect">
            <a:avLst/>
          </a:prstGeom>
        </p:spPr>
      </p:pic>
      <p:sp>
        <p:nvSpPr>
          <p:cNvPr id="28" name="Text 22"/>
          <p:cNvSpPr/>
          <p:nvPr/>
        </p:nvSpPr>
        <p:spPr>
          <a:xfrm>
            <a:off x="9189720" y="4434840"/>
            <a:ext cx="2011680" cy="365760"/>
          </a:xfrm>
          <a:prstGeom prst="rect">
            <a:avLst/>
          </a:prstGeom>
          <a:noFill/>
          <a:ln/>
        </p:spPr>
        <p:txBody>
          <a:bodyPr wrap="square"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pharmacy_benefits</a:t>
            </a:r>
            <a:endParaRPr lang="en-US" sz="1500" dirty="0"/>
          </a:p>
        </p:txBody>
      </p:sp>
      <p:sp>
        <p:nvSpPr>
          <p:cNvPr id="29" name="Text 23"/>
          <p:cNvSpPr/>
          <p:nvPr/>
        </p:nvSpPr>
        <p:spPr>
          <a:xfrm>
            <a:off x="9189720" y="4773168"/>
            <a:ext cx="2011680" cy="365760"/>
          </a:xfrm>
          <a:prstGeom prst="rect">
            <a:avLst/>
          </a:prstGeom>
          <a:noFill/>
          <a:ln/>
        </p:spPr>
        <p:txBody>
          <a:bodyPr wrap="square" rtlCol="0" anchor="ctr"/>
          <a:lstStyle/>
          <a:p>
            <a:pPr indent="0" marL="0">
              <a:buNone/>
            </a:pPr>
            <a:r>
              <a:rPr lang="en-US" sz="1100" dirty="0">
                <a:solidFill>
                  <a:srgbClr val="9AA0AD"/>
                </a:solidFill>
                <a:latin typeface="Calibri" pitchFamily="34" charset="0"/>
                <a:ea typeface="Calibri" pitchFamily="34" charset="-122"/>
                <a:cs typeface="Calibri" pitchFamily="34" charset="-120"/>
              </a:rPr>
              <a:t>drugs, copay, supply</a:t>
            </a:r>
            <a:endParaRPr lang="en-US" sz="1100" dirty="0"/>
          </a:p>
        </p:txBody>
      </p:sp>
      <p:sp>
        <p:nvSpPr>
          <p:cNvPr id="30" name="Text 24"/>
          <p:cNvSpPr/>
          <p:nvPr/>
        </p:nvSpPr>
        <p:spPr>
          <a:xfrm>
            <a:off x="8595360" y="5166360"/>
            <a:ext cx="2468880" cy="274320"/>
          </a:xfrm>
          <a:prstGeom prst="rect">
            <a:avLst/>
          </a:prstGeom>
          <a:noFill/>
          <a:ln/>
        </p:spPr>
        <p:txBody>
          <a:bodyPr wrap="square" rtlCol="0" anchor="ctr"/>
          <a:lstStyle/>
          <a:p>
            <a:pPr indent="0" marL="0">
              <a:buNone/>
            </a:pPr>
            <a:r>
              <a:rPr lang="en-US" sz="1000" dirty="0">
                <a:solidFill>
                  <a:srgbClr val="00A896"/>
                </a:solidFill>
                <a:latin typeface="Courier New" pitchFamily="34" charset="0"/>
                <a:ea typeface="Courier New" pitchFamily="34" charset="-122"/>
                <a:cs typeface="Courier New" pitchFamily="34" charset="-120"/>
              </a:rPr>
              <a:t>member_id (FK)</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indent="0" marL="0">
              <a:buNone/>
            </a:pPr>
            <a:r>
              <a:rPr lang="en-US" sz="3600" b="1" dirty="0">
                <a:solidFill>
                  <a:srgbClr val="E8EAF0"/>
                </a:solidFill>
                <a:latin typeface="Cambria" pitchFamily="34" charset="0"/>
                <a:ea typeface="Cambria" pitchFamily="34" charset="-122"/>
                <a:cs typeface="Cambria" pitchFamily="34" charset="-120"/>
              </a:rPr>
              <a:t>Requirements met</a:t>
            </a:r>
            <a:endParaRPr lang="en-US" sz="3600" dirty="0"/>
          </a:p>
        </p:txBody>
      </p:sp>
      <p:sp>
        <p:nvSpPr>
          <p:cNvPr id="3" name="Shape 1"/>
          <p:cNvSpPr/>
          <p:nvPr/>
        </p:nvSpPr>
        <p:spPr>
          <a:xfrm>
            <a:off x="731520" y="1645920"/>
            <a:ext cx="3383280" cy="3383280"/>
          </a:xfrm>
          <a:prstGeom prst="roundRect">
            <a:avLst>
              <a:gd name="adj" fmla="val 3243"/>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4" name="Shape 2"/>
          <p:cNvSpPr/>
          <p:nvPr/>
        </p:nvSpPr>
        <p:spPr>
          <a:xfrm>
            <a:off x="2057400" y="1920240"/>
            <a:ext cx="731520" cy="73152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5" name="Image 0" descr="preencoded.png">    </p:cNvPr>
          <p:cNvPicPr>
            <a:picLocks noChangeAspect="1"/>
          </p:cNvPicPr>
          <p:nvPr/>
        </p:nvPicPr>
        <p:blipFill>
          <a:blip r:embed="rId1"/>
          <a:stretch>
            <a:fillRect/>
          </a:stretch>
        </p:blipFill>
        <p:spPr>
          <a:xfrm>
            <a:off x="2247595" y="2110435"/>
            <a:ext cx="351130" cy="351130"/>
          </a:xfrm>
          <a:prstGeom prst="rect">
            <a:avLst/>
          </a:prstGeom>
        </p:spPr>
      </p:pic>
      <p:sp>
        <p:nvSpPr>
          <p:cNvPr id="6" name="Text 3"/>
          <p:cNvSpPr/>
          <p:nvPr/>
        </p:nvSpPr>
        <p:spPr>
          <a:xfrm>
            <a:off x="914400" y="2834640"/>
            <a:ext cx="3017520" cy="640080"/>
          </a:xfrm>
          <a:prstGeom prst="rect">
            <a:avLst/>
          </a:prstGeom>
          <a:noFill/>
          <a:ln/>
        </p:spPr>
        <p:txBody>
          <a:bodyPr wrap="square" rtlCol="0" anchor="ctr"/>
          <a:lstStyle/>
          <a:p>
            <a:pPr algn="ctr" indent="0" marL="0">
              <a:buNone/>
            </a:pPr>
            <a:r>
              <a:rPr lang="en-US" sz="1800" b="1" dirty="0">
                <a:solidFill>
                  <a:srgbClr val="E8EAF0"/>
                </a:solidFill>
                <a:latin typeface="Calibri" pitchFamily="34" charset="0"/>
                <a:ea typeface="Calibri" pitchFamily="34" charset="-122"/>
                <a:cs typeface="Calibri" pitchFamily="34" charset="-120"/>
              </a:rPr>
              <a:t>Accuracy at scale</a:t>
            </a:r>
            <a:endParaRPr lang="en-US" sz="1800" dirty="0"/>
          </a:p>
        </p:txBody>
      </p:sp>
      <p:sp>
        <p:nvSpPr>
          <p:cNvPr id="7" name="Text 4"/>
          <p:cNvSpPr/>
          <p:nvPr/>
        </p:nvSpPr>
        <p:spPr>
          <a:xfrm>
            <a:off x="960120" y="3520440"/>
            <a:ext cx="2926080" cy="1371600"/>
          </a:xfrm>
          <a:prstGeom prst="rect">
            <a:avLst/>
          </a:prstGeom>
          <a:noFill/>
          <a:ln/>
        </p:spPr>
        <p:txBody>
          <a:bodyPr wrap="square" rtlCol="0" anchor="ctr"/>
          <a:lstStyle/>
          <a:p>
            <a:pPr algn="ctr" indent="0" marL="0">
              <a:buNone/>
            </a:pPr>
            <a:r>
              <a:rPr lang="en-US" sz="1350" dirty="0">
                <a:solidFill>
                  <a:srgbClr val="9AA0AD"/>
                </a:solidFill>
                <a:latin typeface="Calibri" pitchFamily="34" charset="0"/>
                <a:ea typeface="Calibri" pitchFamily="34" charset="-122"/>
                <a:cs typeface="Calibri" pitchFamily="34" charset="-120"/>
              </a:rPr>
              <a:t>Smart table selection prunes the schema before SQL — accuracy holds as tables grow.</a:t>
            </a:r>
            <a:endParaRPr lang="en-US" sz="1350" dirty="0"/>
          </a:p>
        </p:txBody>
      </p:sp>
      <p:sp>
        <p:nvSpPr>
          <p:cNvPr id="8" name="Shape 5"/>
          <p:cNvSpPr/>
          <p:nvPr/>
        </p:nvSpPr>
        <p:spPr>
          <a:xfrm>
            <a:off x="4361688" y="1645920"/>
            <a:ext cx="3383280" cy="3383280"/>
          </a:xfrm>
          <a:prstGeom prst="roundRect">
            <a:avLst>
              <a:gd name="adj" fmla="val 3243"/>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9" name="Shape 6"/>
          <p:cNvSpPr/>
          <p:nvPr/>
        </p:nvSpPr>
        <p:spPr>
          <a:xfrm>
            <a:off x="5687568" y="1920240"/>
            <a:ext cx="731520" cy="73152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5877763" y="2110435"/>
            <a:ext cx="351130" cy="351130"/>
          </a:xfrm>
          <a:prstGeom prst="rect">
            <a:avLst/>
          </a:prstGeom>
        </p:spPr>
      </p:pic>
      <p:sp>
        <p:nvSpPr>
          <p:cNvPr id="11" name="Text 7"/>
          <p:cNvSpPr/>
          <p:nvPr/>
        </p:nvSpPr>
        <p:spPr>
          <a:xfrm>
            <a:off x="4544568" y="2834640"/>
            <a:ext cx="3017520" cy="640080"/>
          </a:xfrm>
          <a:prstGeom prst="rect">
            <a:avLst/>
          </a:prstGeom>
          <a:noFill/>
          <a:ln/>
        </p:spPr>
        <p:txBody>
          <a:bodyPr wrap="square" rtlCol="0" anchor="ctr"/>
          <a:lstStyle/>
          <a:p>
            <a:pPr algn="ctr" indent="0" marL="0">
              <a:buNone/>
            </a:pPr>
            <a:r>
              <a:rPr lang="en-US" sz="1800" b="1" dirty="0">
                <a:solidFill>
                  <a:srgbClr val="E8EAF0"/>
                </a:solidFill>
                <a:latin typeface="Calibri" pitchFamily="34" charset="0"/>
                <a:ea typeface="Calibri" pitchFamily="34" charset="-122"/>
                <a:cs typeface="Calibri" pitchFamily="34" charset="-120"/>
              </a:rPr>
              <a:t>Prevent hallucination</a:t>
            </a:r>
            <a:endParaRPr lang="en-US" sz="1800" dirty="0"/>
          </a:p>
        </p:txBody>
      </p:sp>
      <p:sp>
        <p:nvSpPr>
          <p:cNvPr id="12" name="Text 8"/>
          <p:cNvSpPr/>
          <p:nvPr/>
        </p:nvSpPr>
        <p:spPr>
          <a:xfrm>
            <a:off x="4590288" y="3520440"/>
            <a:ext cx="2926080" cy="1371600"/>
          </a:xfrm>
          <a:prstGeom prst="rect">
            <a:avLst/>
          </a:prstGeom>
          <a:noFill/>
          <a:ln/>
        </p:spPr>
        <p:txBody>
          <a:bodyPr wrap="square" rtlCol="0" anchor="ctr"/>
          <a:lstStyle/>
          <a:p>
            <a:pPr algn="ctr" indent="0" marL="0">
              <a:buNone/>
            </a:pPr>
            <a:r>
              <a:rPr lang="en-US" sz="1350" dirty="0">
                <a:solidFill>
                  <a:srgbClr val="9AA0AD"/>
                </a:solidFill>
                <a:latin typeface="Calibri" pitchFamily="34" charset="0"/>
                <a:ea typeface="Calibri" pitchFamily="34" charset="-122"/>
                <a:cs typeface="Calibri" pitchFamily="34" charset="-120"/>
              </a:rPr>
              <a:t>Answers grounded in real query results; refuses and flags when data can't answer.</a:t>
            </a:r>
            <a:endParaRPr lang="en-US" sz="1350" dirty="0"/>
          </a:p>
        </p:txBody>
      </p:sp>
      <p:sp>
        <p:nvSpPr>
          <p:cNvPr id="13" name="Shape 9"/>
          <p:cNvSpPr/>
          <p:nvPr/>
        </p:nvSpPr>
        <p:spPr>
          <a:xfrm>
            <a:off x="7991856" y="1645920"/>
            <a:ext cx="3383280" cy="3383280"/>
          </a:xfrm>
          <a:prstGeom prst="roundRect">
            <a:avLst>
              <a:gd name="adj" fmla="val 3243"/>
            </a:avLst>
          </a:prstGeom>
          <a:solidFill>
            <a:srgbClr val="1B1E27"/>
          </a:solidFill>
          <a:ln w="12700">
            <a:solidFill>
              <a:srgbClr val="2A2F3C"/>
            </a:solidFill>
            <a:prstDash val="solid"/>
          </a:ln>
          <a:effectLst>
            <a:outerShdw sx="100000" sy="100000" kx="0" ky="0" algn="bl" rotWithShape="0" blurRad="101600" dist="38100" dir="5400000">
              <a:srgbClr val="000000">
                <a:alpha val="25000"/>
              </a:srgbClr>
            </a:outerShdw>
          </a:effectLst>
        </p:spPr>
      </p:sp>
      <p:sp>
        <p:nvSpPr>
          <p:cNvPr id="14" name="Shape 10"/>
          <p:cNvSpPr/>
          <p:nvPr/>
        </p:nvSpPr>
        <p:spPr>
          <a:xfrm>
            <a:off x="9317736" y="1920240"/>
            <a:ext cx="731520" cy="731520"/>
          </a:xfrm>
          <a:prstGeom prst="ellipse">
            <a:avLst/>
          </a:prstGeom>
          <a:solidFill>
            <a:srgbClr val="028090"/>
          </a:solidFill>
          <a:ln/>
          <a:effectLst>
            <a:outerShdw sx="100000" sy="100000" kx="0" ky="0" algn="bl" rotWithShape="0" blurRad="101600" dist="38100" dir="5400000">
              <a:srgbClr val="000000">
                <a:alpha val="25000"/>
              </a:srgbClr>
            </a:outerShdw>
          </a:effectLst>
        </p:spPr>
      </p:sp>
      <p:pic>
        <p:nvPicPr>
          <p:cNvPr id="15" name="Image 2" descr="preencoded.png">    </p:cNvPr>
          <p:cNvPicPr>
            <a:picLocks noChangeAspect="1"/>
          </p:cNvPicPr>
          <p:nvPr/>
        </p:nvPicPr>
        <p:blipFill>
          <a:blip r:embed="rId3"/>
          <a:stretch>
            <a:fillRect/>
          </a:stretch>
        </p:blipFill>
        <p:spPr>
          <a:xfrm>
            <a:off x="9507931" y="2110435"/>
            <a:ext cx="351130" cy="351130"/>
          </a:xfrm>
          <a:prstGeom prst="rect">
            <a:avLst/>
          </a:prstGeom>
        </p:spPr>
      </p:pic>
      <p:sp>
        <p:nvSpPr>
          <p:cNvPr id="16" name="Text 11"/>
          <p:cNvSpPr/>
          <p:nvPr/>
        </p:nvSpPr>
        <p:spPr>
          <a:xfrm>
            <a:off x="8174736" y="2834640"/>
            <a:ext cx="3017520" cy="640080"/>
          </a:xfrm>
          <a:prstGeom prst="rect">
            <a:avLst/>
          </a:prstGeom>
          <a:noFill/>
          <a:ln/>
        </p:spPr>
        <p:txBody>
          <a:bodyPr wrap="square" rtlCol="0" anchor="ctr"/>
          <a:lstStyle/>
          <a:p>
            <a:pPr algn="ctr" indent="0" marL="0">
              <a:buNone/>
            </a:pPr>
            <a:r>
              <a:rPr lang="en-US" sz="1800" b="1" dirty="0">
                <a:solidFill>
                  <a:srgbClr val="E8EAF0"/>
                </a:solidFill>
                <a:latin typeface="Calibri" pitchFamily="34" charset="0"/>
                <a:ea typeface="Calibri" pitchFamily="34" charset="-122"/>
                <a:cs typeface="Calibri" pitchFamily="34" charset="-120"/>
              </a:rPr>
              <a:t>Data privacy</a:t>
            </a:r>
            <a:endParaRPr lang="en-US" sz="1800" dirty="0"/>
          </a:p>
        </p:txBody>
      </p:sp>
      <p:sp>
        <p:nvSpPr>
          <p:cNvPr id="17" name="Text 12"/>
          <p:cNvSpPr/>
          <p:nvPr/>
        </p:nvSpPr>
        <p:spPr>
          <a:xfrm>
            <a:off x="8220456" y="3520440"/>
            <a:ext cx="2926080" cy="1371600"/>
          </a:xfrm>
          <a:prstGeom prst="rect">
            <a:avLst/>
          </a:prstGeom>
          <a:noFill/>
          <a:ln/>
        </p:spPr>
        <p:txBody>
          <a:bodyPr wrap="square" rtlCol="0" anchor="ctr"/>
          <a:lstStyle/>
          <a:p>
            <a:pPr algn="ctr" indent="0" marL="0">
              <a:buNone/>
            </a:pPr>
            <a:r>
              <a:rPr lang="en-US" sz="1350" dirty="0">
                <a:solidFill>
                  <a:srgbClr val="9AA0AD"/>
                </a:solidFill>
                <a:latin typeface="Calibri" pitchFamily="34" charset="0"/>
                <a:ea typeface="Calibri" pitchFamily="34" charset="-122"/>
                <a:cs typeface="Calibri" pitchFamily="34" charset="-120"/>
              </a:rPr>
              <a:t>Role-based access removes PHI/PII columns before the model sees them.</a:t>
            </a:r>
            <a:endParaRPr lang="en-US" sz="1350" dirty="0"/>
          </a:p>
        </p:txBody>
      </p:sp>
      <p:sp>
        <p:nvSpPr>
          <p:cNvPr id="18" name="Text 13"/>
          <p:cNvSpPr/>
          <p:nvPr/>
        </p:nvSpPr>
        <p:spPr>
          <a:xfrm>
            <a:off x="731520" y="5394960"/>
            <a:ext cx="10698480" cy="457200"/>
          </a:xfrm>
          <a:prstGeom prst="rect">
            <a:avLst/>
          </a:prstGeom>
          <a:noFill/>
          <a:ln/>
        </p:spPr>
        <p:txBody>
          <a:bodyPr wrap="square" rtlCol="0" anchor="ctr"/>
          <a:lstStyle/>
          <a:p>
            <a:pPr algn="ctr" indent="0" marL="0">
              <a:buNone/>
            </a:pPr>
            <a:r>
              <a:rPr lang="en-US" sz="1400" i="1" dirty="0">
                <a:solidFill>
                  <a:srgbClr val="00A896"/>
                </a:solidFill>
                <a:latin typeface="Calibri" pitchFamily="34" charset="0"/>
                <a:ea typeface="Calibri" pitchFamily="34" charset="-122"/>
                <a:cs typeface="Calibri" pitchFamily="34" charset="-120"/>
              </a:rPr>
              <a:t>Built with Python · Streamlit · DuckDB · Featherless AI (Qwen3-Coder)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ClariQuery — Buildathon Dallas</dc:title>
  <dc:subject>PptxGenJS Presentation</dc:subject>
  <dc:creator>ClariQuery</dc:creator>
  <cp:lastModifiedBy>ClariQuery</cp:lastModifiedBy>
  <cp:revision>1</cp:revision>
  <dcterms:created xsi:type="dcterms:W3CDTF">2026-06-25T21:45:52Z</dcterms:created>
  <dcterms:modified xsi:type="dcterms:W3CDTF">2026-06-25T21:45:52Z</dcterms:modified>
</cp:coreProperties>
</file>